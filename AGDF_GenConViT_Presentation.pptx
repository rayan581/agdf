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covers AGDF-GenConViT — our proposed improvement to the GenConViT deepfake detection framework by replacing its static 50/50 branch average with a lightweight learned gating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GenConViT is powerful but fuses its two branches with a hard-coded 50/50 average. This is suboptimal because branch reliability varies per sample — a branch that is very uncertain should contribute less. Our AGDF module learns to weight branches dynamically from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frozen GenConViT-ED and GenConViT-VAE branches produce 2D softmax probabilities. Their Shannon entropies are appended, forming a 6-dimensional gate input. The Adaptive Gate Network (3 linear layers, ~18.8K params) outputs (w_ed, w_vae) via Softmax, which blend the branch predictions into P_final.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is deliberately tiny — 18.8K params vs millions in the backbone — to avoid overfitting and preserve the frozen backbone representations. LayerNorm is used instead of BatchNorm for stability at large batch sizes. Two loss variants are compared: standard CE and Focal Loss to focus on hard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FaceForensics++ with balanced 50/50 real vs fake sampling. Backbone predictions are cached to disk once, then the gate is trained rapidly on top. The primary selection criterion is best validation F1 to ensure recall on the Fake class is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metrics tell the same story: both AGDF variants converge quickly and stay well above the static baseline (dashed red lines) for all 50 epochs. CE is slightly more stable on AUC while Focal shows more variance early on due to hard-example focusing.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variants show an asymmetric error pattern: strong fake recall (~78.5%) but higher false positives on real frames. This likely reflects the pre-trained GenConViT backbone's bias toward predicting fake for uncertain inputs, which the gate inherits through cached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shows clear gains across all metrics. CE achieves the best absolute accuracy (68.1%) and AUC (0.784). The modest CE vs Focal gap suggests hard-example focusing does not provide additional benefit in the gate-only training regime — the easy examples are already well-handled by the frozen backbones.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learns meaningful routing purely from entropy signals — no hand-engineering. The asymmetric error pattern is a known backbone bias issue that can be addressed with rebalanced training losses. The domain transfer principle is the most broadly applicable takeaway: gated fusion is a general pattern for combining two unreliable-but-complementary predictors.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AGDF is a clean, lightweight solution to a real limitation of GenConViT. The gated fusion approach is general and could be applied to other dual-branch detectors. Our key future direction is addressing the real/fake asymmetry and exploring joint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E"/>
        </a:solidFill>
      </p:bgPr>
    </p:bg>
    <p:spTree>
      <p:nvGrpSpPr>
        <p:cNvPr id="1" name=""/>
        <p:cNvGrpSpPr/>
        <p:nvPr/>
      </p:nvGrpSpPr>
      <p:grpSpPr>
        <a:xfrm>
          <a:off x="0" y="0"/>
          <a:ext cx="0" cy="0"/>
          <a:chOff x="0" y="0"/>
          <a:chExt cx="0" cy="0"/>
        </a:xfrm>
      </p:grpSpPr>
      <p:sp>
        <p:nvSpPr>
          <p:cNvPr id="2" name="Shape 0"/>
          <p:cNvSpPr/>
          <p:nvPr/>
        </p:nvSpPr>
        <p:spPr>
          <a:xfrm>
            <a:off x="-548640" y="-548640"/>
            <a:ext cx="2560320" cy="2560320"/>
          </a:xfrm>
          <a:prstGeom prst="ellipse">
            <a:avLst/>
          </a:prstGeom>
          <a:solidFill>
            <a:srgbClr val="112266"/>
          </a:solidFill>
          <a:ln w="12700">
            <a:solidFill>
              <a:srgbClr val="112266"/>
            </a:solidFill>
            <a:prstDash val="solid"/>
          </a:ln>
        </p:spPr>
      </p:sp>
      <p:sp>
        <p:nvSpPr>
          <p:cNvPr id="3" name="Shape 1"/>
          <p:cNvSpPr/>
          <p:nvPr/>
        </p:nvSpPr>
        <p:spPr>
          <a:xfrm>
            <a:off x="7680960" y="3474720"/>
            <a:ext cx="2011680" cy="2011680"/>
          </a:xfrm>
          <a:prstGeom prst="ellipse">
            <a:avLst/>
          </a:prstGeom>
          <a:solidFill>
            <a:srgbClr val="0A4070"/>
          </a:solidFill>
          <a:ln w="12700">
            <a:solidFill>
              <a:srgbClr val="0A4070"/>
            </a:solidFill>
            <a:prstDash val="solid"/>
          </a:ln>
        </p:spPr>
      </p:sp>
      <p:sp>
        <p:nvSpPr>
          <p:cNvPr id="4" name="Shape 2"/>
          <p:cNvSpPr/>
          <p:nvPr/>
        </p:nvSpPr>
        <p:spPr>
          <a:xfrm>
            <a:off x="7132320" y="182880"/>
            <a:ext cx="1005840" cy="1005840"/>
          </a:xfrm>
          <a:prstGeom prst="ellipse">
            <a:avLst/>
          </a:prstGeom>
          <a:solidFill>
            <a:srgbClr val="0A7EA4">
              <a:alpha val="60000"/>
            </a:srgbClr>
          </a:solidFill>
          <a:ln w="12700">
            <a:solidFill>
              <a:srgbClr val="0A7EA4"/>
            </a:solidFill>
            <a:prstDash val="solid"/>
          </a:ln>
        </p:spPr>
      </p:sp>
      <p:sp>
        <p:nvSpPr>
          <p:cNvPr id="5" name="Shape 3"/>
          <p:cNvSpPr/>
          <p:nvPr/>
        </p:nvSpPr>
        <p:spPr>
          <a:xfrm>
            <a:off x="640080" y="1828800"/>
            <a:ext cx="457200" cy="54864"/>
          </a:xfrm>
          <a:prstGeom prst="rect">
            <a:avLst/>
          </a:prstGeom>
          <a:solidFill>
            <a:srgbClr val="F59E0B"/>
          </a:solidFill>
          <a:ln w="12700">
            <a:solidFill>
              <a:srgbClr val="F59E0B"/>
            </a:solidFill>
            <a:prstDash val="solid"/>
          </a:ln>
        </p:spPr>
      </p:sp>
      <p:sp>
        <p:nvSpPr>
          <p:cNvPr id="6" name="Shape 4"/>
          <p:cNvSpPr/>
          <p:nvPr/>
        </p:nvSpPr>
        <p:spPr>
          <a:xfrm>
            <a:off x="1188720" y="1828800"/>
            <a:ext cx="2286000" cy="54864"/>
          </a:xfrm>
          <a:prstGeom prst="rect">
            <a:avLst/>
          </a:prstGeom>
          <a:solidFill>
            <a:srgbClr val="0A7EA4"/>
          </a:solidFill>
          <a:ln w="12700">
            <a:solidFill>
              <a:srgbClr val="0A7EA4"/>
            </a:solidFill>
            <a:prstDash val="solid"/>
          </a:ln>
        </p:spPr>
      </p:sp>
      <p:sp>
        <p:nvSpPr>
          <p:cNvPr id="7" name="Text 5"/>
          <p:cNvSpPr/>
          <p:nvPr/>
        </p:nvSpPr>
        <p:spPr>
          <a:xfrm>
            <a:off x="640080" y="1005840"/>
            <a:ext cx="7863840" cy="777240"/>
          </a:xfrm>
          <a:prstGeom prst="rect">
            <a:avLst/>
          </a:prstGeom>
          <a:noFill/>
          <a:ln/>
        </p:spPr>
        <p:txBody>
          <a:bodyPr wrap="square"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AGDF-GenConViT</a:t>
            </a:r>
            <a:endParaRPr lang="en-US" sz="4000" dirty="0"/>
          </a:p>
        </p:txBody>
      </p:sp>
      <p:sp>
        <p:nvSpPr>
          <p:cNvPr id="8" name="Text 6"/>
          <p:cNvSpPr/>
          <p:nvPr/>
        </p:nvSpPr>
        <p:spPr>
          <a:xfrm>
            <a:off x="640080" y="1965960"/>
            <a:ext cx="7315200" cy="548640"/>
          </a:xfrm>
          <a:prstGeom prst="rect">
            <a:avLst/>
          </a:prstGeom>
          <a:noFill/>
          <a:ln/>
        </p:spPr>
        <p:txBody>
          <a:bodyPr wrap="square" rtlCol="0" anchor="ctr"/>
          <a:lstStyle/>
          <a:p>
            <a:pPr algn="l" indent="0" marL="0">
              <a:buNone/>
            </a:pPr>
            <a:r>
              <a:rPr lang="en-US" sz="2000" dirty="0">
                <a:solidFill>
                  <a:srgbClr val="C9E6F5"/>
                </a:solidFill>
                <a:latin typeface="Calibri" pitchFamily="34" charset="0"/>
                <a:ea typeface="Calibri" pitchFamily="34" charset="-122"/>
                <a:cs typeface="Calibri" pitchFamily="34" charset="-120"/>
              </a:rPr>
              <a:t>Adaptive Gated Decision Fusion for Deepfake Detection</a:t>
            </a:r>
            <a:endParaRPr lang="en-US" sz="2000" dirty="0"/>
          </a:p>
        </p:txBody>
      </p:sp>
      <p:sp>
        <p:nvSpPr>
          <p:cNvPr id="9" name="Text 7"/>
          <p:cNvSpPr/>
          <p:nvPr/>
        </p:nvSpPr>
        <p:spPr>
          <a:xfrm>
            <a:off x="640080" y="2834640"/>
            <a:ext cx="7315200" cy="914400"/>
          </a:xfrm>
          <a:prstGeom prst="rect">
            <a:avLst/>
          </a:prstGeom>
          <a:noFill/>
          <a:ln/>
        </p:spPr>
        <p:txBody>
          <a:bodyPr wrap="square" rtlCol="0" anchor="t"/>
          <a:lstStyle/>
          <a:p>
            <a:pPr algn="l" indent="0" marL="0">
              <a:buNone/>
            </a:pPr>
            <a:r>
              <a:rPr lang="en-US" sz="1200" dirty="0">
                <a:solidFill>
                  <a:srgbClr val="8BBDD9"/>
                </a:solidFill>
                <a:latin typeface="Calibri" pitchFamily="34" charset="0"/>
                <a:ea typeface="Calibri" pitchFamily="34" charset="-122"/>
                <a:cs typeface="Calibri" pitchFamily="34" charset="-120"/>
              </a:rPr>
              <a:t>Rayan Ahmed  ·  Awwab Ahmed  ·  Uwaid  ·  Rana Zohaib</a:t>
            </a:r>
            <a:endParaRPr lang="en-US" sz="1200" dirty="0"/>
          </a:p>
          <a:p>
            <a:pPr algn="l" indent="0" marL="0">
              <a:buNone/>
            </a:pPr>
            <a:r>
              <a:rPr lang="en-US" sz="1200" dirty="0">
                <a:solidFill>
                  <a:srgbClr val="8BBDD9"/>
                </a:solidFill>
                <a:latin typeface="Calibri" pitchFamily="34" charset="0"/>
                <a:ea typeface="Calibri" pitchFamily="34" charset="-122"/>
                <a:cs typeface="Calibri" pitchFamily="34" charset="-120"/>
              </a:rPr>
              <a:t>Dept. of Artificial Intelligence  |  FAST-NUCES, Islamabad</a:t>
            </a:r>
            <a:endParaRPr lang="en-US" sz="1200" dirty="0"/>
          </a:p>
          <a:p>
            <a:pPr algn="l" indent="0" marL="0">
              <a:buNone/>
            </a:pPr>
            <a:r>
              <a:rPr lang="en-US" sz="1200" dirty="0">
                <a:solidFill>
                  <a:srgbClr val="8BBDD9"/>
                </a:solidFill>
                <a:latin typeface="Calibri" pitchFamily="34" charset="0"/>
                <a:ea typeface="Calibri" pitchFamily="34" charset="-122"/>
                <a:cs typeface="Calibri" pitchFamily="34" charset="-120"/>
              </a:rPr>
              <a:t>Computer Vision (Spring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274320"/>
            <a:ext cx="1920240" cy="256032"/>
          </a:xfrm>
          <a:prstGeom prst="roundRect">
            <a:avLst>
              <a:gd name="adj" fmla="val 50000"/>
            </a:avLst>
          </a:prstGeom>
          <a:solidFill>
            <a:srgbClr val="0A7EA4"/>
          </a:solidFill>
          <a:ln w="12700">
            <a:solidFill>
              <a:srgbClr val="0A7EA4"/>
            </a:solidFill>
            <a:prstDash val="solid"/>
          </a:ln>
        </p:spPr>
      </p:sp>
      <p:sp>
        <p:nvSpPr>
          <p:cNvPr id="3" name="Text 1"/>
          <p:cNvSpPr/>
          <p:nvPr/>
        </p:nvSpPr>
        <p:spPr>
          <a:xfrm>
            <a:off x="457200" y="274320"/>
            <a:ext cx="1920240" cy="256032"/>
          </a:xfrm>
          <a:prstGeom prst="rect">
            <a:avLst/>
          </a:prstGeom>
          <a:noFill/>
          <a:ln/>
        </p:spPr>
        <p:txBody>
          <a:bodyPr wrap="square" lIns="0" tIns="0" rIns="0" bIns="0" rtlCol="0" anchor="ctr"/>
          <a:lstStyle/>
          <a:p>
            <a:pPr algn="ctr" indent="0" marL="0">
              <a:buNone/>
            </a:pPr>
            <a:r>
              <a:rPr lang="en-US" sz="900" b="1" dirty="0">
                <a:solidFill>
                  <a:srgbClr val="FFFFFF"/>
                </a:solidFill>
              </a:rPr>
              <a:t>MOTIVATION</a:t>
            </a:r>
            <a:endParaRPr lang="en-US" sz="900" dirty="0"/>
          </a:p>
        </p:txBody>
      </p:sp>
      <p:sp>
        <p:nvSpPr>
          <p:cNvPr id="4" name="Text 2"/>
          <p:cNvSpPr/>
          <p:nvPr/>
        </p:nvSpPr>
        <p:spPr>
          <a:xfrm>
            <a:off x="457200" y="594360"/>
            <a:ext cx="8229600" cy="502920"/>
          </a:xfrm>
          <a:prstGeom prst="rect">
            <a:avLst/>
          </a:prstGeom>
          <a:noFill/>
          <a:ln/>
        </p:spPr>
        <p:txBody>
          <a:bodyPr wrap="square" rtlCol="0" anchor="ctr"/>
          <a:lstStyle/>
          <a:p>
            <a:pPr indent="0" marL="0">
              <a:buNone/>
            </a:pPr>
            <a:r>
              <a:rPr lang="en-US" sz="2800" b="1" dirty="0">
                <a:solidFill>
                  <a:srgbClr val="0D1B4E"/>
                </a:solidFill>
                <a:latin typeface="Cambria" pitchFamily="34" charset="0"/>
                <a:ea typeface="Cambria" pitchFamily="34" charset="-122"/>
                <a:cs typeface="Cambria" pitchFamily="34" charset="-120"/>
              </a:rPr>
              <a:t>The Problem with Static Fusion</a:t>
            </a:r>
            <a:endParaRPr lang="en-US" sz="2800" dirty="0"/>
          </a:p>
        </p:txBody>
      </p:sp>
      <p:sp>
        <p:nvSpPr>
          <p:cNvPr id="5" name="Shape 3"/>
          <p:cNvSpPr/>
          <p:nvPr/>
        </p:nvSpPr>
        <p:spPr>
          <a:xfrm>
            <a:off x="457200" y="1234440"/>
            <a:ext cx="4023360" cy="3474720"/>
          </a:xfrm>
          <a:prstGeom prst="roundRect">
            <a:avLst>
              <a:gd name="adj" fmla="val 2105"/>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6" name="Text 4"/>
          <p:cNvSpPr/>
          <p:nvPr/>
        </p:nvSpPr>
        <p:spPr>
          <a:xfrm>
            <a:off x="640080" y="1371600"/>
            <a:ext cx="3657600" cy="347472"/>
          </a:xfrm>
          <a:prstGeom prst="rect">
            <a:avLst/>
          </a:prstGeom>
          <a:noFill/>
          <a:ln/>
        </p:spPr>
        <p:txBody>
          <a:bodyPr wrap="square" rtlCol="0" anchor="ctr"/>
          <a:lstStyle/>
          <a:p>
            <a:pPr indent="0" marL="0">
              <a:buNone/>
            </a:pPr>
            <a:r>
              <a:rPr lang="en-US" sz="1400" b="1" dirty="0">
                <a:solidFill>
                  <a:srgbClr val="0A7EA4"/>
                </a:solidFill>
                <a:latin typeface="Calibri" pitchFamily="34" charset="0"/>
                <a:ea typeface="Calibri" pitchFamily="34" charset="-122"/>
                <a:cs typeface="Calibri" pitchFamily="34" charset="-120"/>
              </a:rPr>
              <a:t>GenConViT Baseline</a:t>
            </a:r>
            <a:endParaRPr lang="en-US" sz="1400" dirty="0"/>
          </a:p>
        </p:txBody>
      </p:sp>
      <p:sp>
        <p:nvSpPr>
          <p:cNvPr id="7" name="Text 5"/>
          <p:cNvSpPr/>
          <p:nvPr/>
        </p:nvSpPr>
        <p:spPr>
          <a:xfrm>
            <a:off x="640080" y="1783080"/>
            <a:ext cx="3657600" cy="2743200"/>
          </a:xfrm>
          <a:prstGeom prst="rect">
            <a:avLst/>
          </a:prstGeom>
          <a:noFill/>
          <a:ln/>
        </p:spPr>
        <p:txBody>
          <a:bodyPr wrap="square" rtlCol="0" anchor="t"/>
          <a:lstStyle/>
          <a:p>
            <a:pPr indent="0" marL="0">
              <a:buNone/>
            </a:pPr>
            <a:r>
              <a:rPr lang="en-US" sz="1250" b="1" dirty="0">
                <a:solidFill>
                  <a:srgbClr val="1E293B"/>
                </a:solidFill>
                <a:latin typeface="Calibri" pitchFamily="34" charset="0"/>
                <a:ea typeface="Calibri" pitchFamily="34" charset="-122"/>
                <a:cs typeface="Calibri" pitchFamily="34" charset="-120"/>
              </a:rPr>
              <a:t>Two complementary branches:</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 GenConViT-ED — EfficientNet + Swin Transformer</a:t>
            </a:r>
            <a:endParaRPr lang="en-US" sz="1250" dirty="0"/>
          </a:p>
          <a:p>
            <a:pPr indent="0" marL="0">
              <a:spcAft>
                <a:spcPts val="600"/>
              </a:spcAft>
              <a:buNone/>
            </a:pPr>
            <a:r>
              <a:rPr lang="en-US" sz="1250" dirty="0">
                <a:solidFill>
                  <a:srgbClr val="1E293B"/>
                </a:solidFill>
                <a:latin typeface="Calibri" pitchFamily="34" charset="0"/>
                <a:ea typeface="Calibri" pitchFamily="34" charset="-122"/>
                <a:cs typeface="Calibri" pitchFamily="34" charset="-120"/>
              </a:rPr>
              <a:t>  • GenConViT-VAE — VAE reconstruction errors</a:t>
            </a:r>
            <a:endParaRPr lang="en-US" sz="1250" dirty="0"/>
          </a:p>
          <a:p>
            <a:pPr indent="0" marL="0">
              <a:buNone/>
            </a:pPr>
            <a:r>
              <a:rPr lang="en-US" sz="1250" b="1" dirty="0">
                <a:solidFill>
                  <a:srgbClr val="1E293B"/>
                </a:solidFill>
                <a:latin typeface="Calibri" pitchFamily="34" charset="0"/>
                <a:ea typeface="Calibri" pitchFamily="34" charset="-122"/>
                <a:cs typeface="Calibri" pitchFamily="34" charset="-120"/>
              </a:rPr>
              <a:t>Fixed 0.5 / 0.5 static average at inference</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  Treats both branches as equally reliable</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  Cannot adapt to per-sample uncertainty</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  Probability [0.51, 0.49] ≡ [0.99, 0.01]</a:t>
            </a:r>
            <a:endParaRPr lang="en-US" sz="1250" dirty="0"/>
          </a:p>
        </p:txBody>
      </p:sp>
      <p:sp>
        <p:nvSpPr>
          <p:cNvPr id="8" name="Shape 6"/>
          <p:cNvSpPr/>
          <p:nvPr/>
        </p:nvSpPr>
        <p:spPr>
          <a:xfrm>
            <a:off x="4663440" y="1234440"/>
            <a:ext cx="4023360" cy="3474720"/>
          </a:xfrm>
          <a:prstGeom prst="roundRect">
            <a:avLst>
              <a:gd name="adj" fmla="val 2105"/>
            </a:avLst>
          </a:prstGeom>
          <a:solidFill>
            <a:srgbClr val="EBF5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9" name="Text 7"/>
          <p:cNvSpPr/>
          <p:nvPr/>
        </p:nvSpPr>
        <p:spPr>
          <a:xfrm>
            <a:off x="4846320" y="1371600"/>
            <a:ext cx="3657600" cy="347472"/>
          </a:xfrm>
          <a:prstGeom prst="rect">
            <a:avLst/>
          </a:prstGeom>
          <a:noFill/>
          <a:ln/>
        </p:spPr>
        <p:txBody>
          <a:bodyPr wrap="square" rtlCol="0" anchor="ctr"/>
          <a:lstStyle/>
          <a:p>
            <a:pPr indent="0" marL="0">
              <a:buNone/>
            </a:pPr>
            <a:r>
              <a:rPr lang="en-US" sz="1400" b="1" dirty="0">
                <a:solidFill>
                  <a:srgbClr val="0A7EA4"/>
                </a:solidFill>
                <a:latin typeface="Calibri" pitchFamily="34" charset="0"/>
                <a:ea typeface="Calibri" pitchFamily="34" charset="-122"/>
                <a:cs typeface="Calibri" pitchFamily="34" charset="-120"/>
              </a:rPr>
              <a:t>Our Approach: AGDF</a:t>
            </a:r>
            <a:endParaRPr lang="en-US" sz="1400" dirty="0"/>
          </a:p>
        </p:txBody>
      </p:sp>
      <p:sp>
        <p:nvSpPr>
          <p:cNvPr id="10" name="Text 8"/>
          <p:cNvSpPr/>
          <p:nvPr/>
        </p:nvSpPr>
        <p:spPr>
          <a:xfrm>
            <a:off x="4846320" y="1783080"/>
            <a:ext cx="3657600" cy="2743200"/>
          </a:xfrm>
          <a:prstGeom prst="rect">
            <a:avLst/>
          </a:prstGeom>
          <a:noFill/>
          <a:ln/>
        </p:spPr>
        <p:txBody>
          <a:bodyPr wrap="square" rtlCol="0" anchor="t"/>
          <a:lstStyle/>
          <a:p>
            <a:pPr indent="0" marL="0">
              <a:buNone/>
            </a:pPr>
            <a:r>
              <a:rPr lang="en-US" sz="1250" b="1" dirty="0">
                <a:solidFill>
                  <a:srgbClr val="1E293B"/>
                </a:solidFill>
                <a:latin typeface="Calibri" pitchFamily="34" charset="0"/>
                <a:ea typeface="Calibri" pitchFamily="34" charset="-122"/>
                <a:cs typeface="Calibri" pitchFamily="34" charset="-120"/>
              </a:rPr>
              <a:t>Adaptive Gated Decision Fusion module</a:t>
            </a:r>
            <a:endParaRPr lang="en-US" sz="1250" dirty="0"/>
          </a:p>
          <a:p>
            <a:pPr indent="0" marL="0">
              <a:spcAft>
                <a:spcPts val="600"/>
              </a:spcAft>
              <a:buNone/>
            </a:pPr>
            <a:r>
              <a:rPr lang="en-US" sz="1250" dirty="0">
                <a:solidFill>
                  <a:srgbClr val="1E293B"/>
                </a:solidFill>
                <a:latin typeface="Calibri" pitchFamily="34" charset="0"/>
                <a:ea typeface="Calibri" pitchFamily="34" charset="-122"/>
                <a:cs typeface="Calibri" pitchFamily="34" charset="-120"/>
              </a:rPr>
              <a:t>  • Inspired by AGFN (sentiment analysis)</a:t>
            </a:r>
            <a:endParaRPr lang="en-US" sz="1250" dirty="0"/>
          </a:p>
          <a:p>
            <a:pPr indent="0" marL="0">
              <a:buNone/>
            </a:pPr>
            <a:r>
              <a:rPr lang="en-US" sz="1250" b="1" dirty="0">
                <a:solidFill>
                  <a:srgbClr val="1E293B"/>
                </a:solidFill>
                <a:latin typeface="Calibri" pitchFamily="34" charset="0"/>
                <a:ea typeface="Calibri" pitchFamily="34" charset="-122"/>
                <a:cs typeface="Calibri" pitchFamily="34" charset="-120"/>
              </a:rPr>
              <a:t>Input: concatenated branch probabilities</a:t>
            </a:r>
            <a:endParaRPr lang="en-US" sz="1250" dirty="0"/>
          </a:p>
          <a:p>
            <a:pPr indent="0" marL="0">
              <a:spcAft>
                <a:spcPts val="600"/>
              </a:spcAft>
              <a:buNone/>
            </a:pPr>
            <a:r>
              <a:rPr lang="en-US" sz="1250" dirty="0">
                <a:solidFill>
                  <a:srgbClr val="1E293B"/>
                </a:solidFill>
                <a:latin typeface="Calibri" pitchFamily="34" charset="0"/>
                <a:ea typeface="Calibri" pitchFamily="34" charset="-122"/>
                <a:cs typeface="Calibri" pitchFamily="34" charset="-120"/>
              </a:rPr>
              <a:t>  + Shannon entropy per branch</a:t>
            </a:r>
            <a:endParaRPr lang="en-US" sz="1250" dirty="0"/>
          </a:p>
          <a:p>
            <a:pPr indent="0" marL="0">
              <a:buNone/>
            </a:pPr>
            <a:r>
              <a:rPr lang="en-US" sz="1250" b="1" dirty="0">
                <a:solidFill>
                  <a:srgbClr val="1E293B"/>
                </a:solidFill>
                <a:latin typeface="Calibri" pitchFamily="34" charset="0"/>
                <a:ea typeface="Calibri" pitchFamily="34" charset="-122"/>
                <a:cs typeface="Calibri" pitchFamily="34" charset="-120"/>
              </a:rPr>
              <a:t>Output: per-sample weights (w_ed, w_vae)</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  Up-weights the confident branch</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  Only ~18.8K trainable parameters</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  Trains on cached logits in minutes</a:t>
            </a:r>
            <a:endParaRPr lang="en-US" sz="1250" dirty="0"/>
          </a:p>
        </p:txBody>
      </p:sp>
      <p:sp>
        <p:nvSpPr>
          <p:cNvPr id="11" name="Shape 9"/>
          <p:cNvSpPr/>
          <p:nvPr/>
        </p:nvSpPr>
        <p:spPr>
          <a:xfrm>
            <a:off x="4526280" y="2971800"/>
            <a:ext cx="137160" cy="0"/>
          </a:xfrm>
          <a:prstGeom prst="line">
            <a:avLst/>
          </a:prstGeom>
          <a:noFill/>
          <a:ln w="25400">
            <a:solidFill>
              <a:srgbClr val="0A7EA4"/>
            </a:solidFill>
            <a:prstDash val="solid"/>
          </a:ln>
        </p:spPr>
      </p:sp>
      <p:sp>
        <p:nvSpPr>
          <p:cNvPr id="12" name="Text 10"/>
          <p:cNvSpPr/>
          <p:nvPr/>
        </p:nvSpPr>
        <p:spPr>
          <a:xfrm>
            <a:off x="4407408" y="2834640"/>
            <a:ext cx="365760" cy="274320"/>
          </a:xfrm>
          <a:prstGeom prst="rect">
            <a:avLst/>
          </a:prstGeom>
          <a:noFill/>
          <a:ln/>
        </p:spPr>
        <p:txBody>
          <a:bodyPr wrap="square" rtlCol="0" anchor="ctr"/>
          <a:lstStyle/>
          <a:p>
            <a:pPr algn="ctr" indent="0" marL="0">
              <a:buNone/>
            </a:pPr>
            <a:r>
              <a:rPr lang="en-US" sz="1800" dirty="0">
                <a:solidFill>
                  <a:srgbClr val="0A7EA4"/>
                </a:solidFill>
              </a:rPr>
              <a: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64592"/>
            <a:ext cx="1920240" cy="256032"/>
          </a:xfrm>
          <a:prstGeom prst="roundRect">
            <a:avLst>
              <a:gd name="adj" fmla="val 50000"/>
            </a:avLst>
          </a:prstGeom>
          <a:solidFill>
            <a:srgbClr val="0A7EA4"/>
          </a:solidFill>
          <a:ln w="12700">
            <a:solidFill>
              <a:srgbClr val="0A7EA4"/>
            </a:solidFill>
            <a:prstDash val="solid"/>
          </a:ln>
        </p:spPr>
      </p:sp>
      <p:sp>
        <p:nvSpPr>
          <p:cNvPr id="3" name="Text 1"/>
          <p:cNvSpPr/>
          <p:nvPr/>
        </p:nvSpPr>
        <p:spPr>
          <a:xfrm>
            <a:off x="457200" y="164592"/>
            <a:ext cx="1920240" cy="256032"/>
          </a:xfrm>
          <a:prstGeom prst="rect">
            <a:avLst/>
          </a:prstGeom>
          <a:noFill/>
          <a:ln/>
        </p:spPr>
        <p:txBody>
          <a:bodyPr wrap="square" lIns="0" tIns="0" rIns="0" bIns="0" rtlCol="0" anchor="ctr"/>
          <a:lstStyle/>
          <a:p>
            <a:pPr algn="ctr" indent="0" marL="0">
              <a:buNone/>
            </a:pPr>
            <a:r>
              <a:rPr lang="en-US" sz="900" b="1" dirty="0">
                <a:solidFill>
                  <a:srgbClr val="FFFFFF"/>
                </a:solidFill>
              </a:rPr>
              <a:t>ARCHITECTURE</a:t>
            </a:r>
            <a:endParaRPr lang="en-US" sz="900" dirty="0"/>
          </a:p>
        </p:txBody>
      </p:sp>
      <p:sp>
        <p:nvSpPr>
          <p:cNvPr id="4" name="Text 2"/>
          <p:cNvSpPr/>
          <p:nvPr/>
        </p:nvSpPr>
        <p:spPr>
          <a:xfrm>
            <a:off x="457200" y="475488"/>
            <a:ext cx="8229600" cy="475488"/>
          </a:xfrm>
          <a:prstGeom prst="rect">
            <a:avLst/>
          </a:prstGeom>
          <a:noFill/>
          <a:ln/>
        </p:spPr>
        <p:txBody>
          <a:bodyPr wrap="square" rtlCol="0" anchor="ctr"/>
          <a:lstStyle/>
          <a:p>
            <a:pPr indent="0" marL="0">
              <a:buNone/>
            </a:pPr>
            <a:r>
              <a:rPr lang="en-US" sz="2600" b="1" dirty="0">
                <a:solidFill>
                  <a:srgbClr val="0D1B4E"/>
                </a:solidFill>
                <a:latin typeface="Cambria" pitchFamily="34" charset="0"/>
                <a:ea typeface="Cambria" pitchFamily="34" charset="-122"/>
                <a:cs typeface="Cambria" pitchFamily="34" charset="-120"/>
              </a:rPr>
              <a:t>AGDF-GenConViT Pipeline</a:t>
            </a:r>
            <a:endParaRPr lang="en-US" sz="2600" dirty="0"/>
          </a:p>
        </p:txBody>
      </p:sp>
      <p:pic>
        <p:nvPicPr>
          <p:cNvPr id="5" name="Image 0" descr="/home/claude/arch.png">    </p:cNvPr>
          <p:cNvPicPr>
            <a:picLocks noChangeAspect="1"/>
          </p:cNvPicPr>
          <p:nvPr/>
        </p:nvPicPr>
        <p:blipFill>
          <a:blip r:embed="rId1"/>
          <a:stretch>
            <a:fillRect/>
          </a:stretch>
        </p:blipFill>
        <p:spPr>
          <a:xfrm>
            <a:off x="1772445" y="1005840"/>
            <a:ext cx="5599110" cy="3749040"/>
          </a:xfrm>
          <a:prstGeom prst="rect">
            <a:avLst/>
          </a:prstGeom>
        </p:spPr>
      </p:pic>
      <p:sp>
        <p:nvSpPr>
          <p:cNvPr id="6" name="Text 3"/>
          <p:cNvSpPr/>
          <p:nvPr/>
        </p:nvSpPr>
        <p:spPr>
          <a:xfrm>
            <a:off x="457200" y="4800600"/>
            <a:ext cx="8229600" cy="274320"/>
          </a:xfrm>
          <a:prstGeom prst="rect">
            <a:avLst/>
          </a:prstGeom>
          <a:noFill/>
          <a:ln/>
        </p:spPr>
        <p:txBody>
          <a:bodyPr wrap="square"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Frozen backbones feed 6-D gate input → Adaptive Gate Network → dynamic per-sample weights → final prediction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164592"/>
            <a:ext cx="1920240" cy="256032"/>
          </a:xfrm>
          <a:prstGeom prst="roundRect">
            <a:avLst>
              <a:gd name="adj" fmla="val 50000"/>
            </a:avLst>
          </a:prstGeom>
          <a:solidFill>
            <a:srgbClr val="0A7EA4"/>
          </a:solidFill>
          <a:ln w="12700">
            <a:solidFill>
              <a:srgbClr val="0A7EA4"/>
            </a:solidFill>
            <a:prstDash val="solid"/>
          </a:ln>
        </p:spPr>
      </p:sp>
      <p:sp>
        <p:nvSpPr>
          <p:cNvPr id="3" name="Text 1"/>
          <p:cNvSpPr/>
          <p:nvPr/>
        </p:nvSpPr>
        <p:spPr>
          <a:xfrm>
            <a:off x="457200" y="164592"/>
            <a:ext cx="1920240" cy="256032"/>
          </a:xfrm>
          <a:prstGeom prst="rect">
            <a:avLst/>
          </a:prstGeom>
          <a:noFill/>
          <a:ln/>
        </p:spPr>
        <p:txBody>
          <a:bodyPr wrap="square" lIns="0" tIns="0" rIns="0" bIns="0" rtlCol="0" anchor="ctr"/>
          <a:lstStyle/>
          <a:p>
            <a:pPr algn="ctr" indent="0" marL="0">
              <a:buNone/>
            </a:pPr>
            <a:r>
              <a:rPr lang="en-US" sz="900" b="1" dirty="0">
                <a:solidFill>
                  <a:srgbClr val="FFFFFF"/>
                </a:solidFill>
              </a:rPr>
              <a:t>METHOD</a:t>
            </a:r>
            <a:endParaRPr lang="en-US" sz="900" dirty="0"/>
          </a:p>
        </p:txBody>
      </p:sp>
      <p:sp>
        <p:nvSpPr>
          <p:cNvPr id="4" name="Text 2"/>
          <p:cNvSpPr/>
          <p:nvPr/>
        </p:nvSpPr>
        <p:spPr>
          <a:xfrm>
            <a:off x="457200" y="475488"/>
            <a:ext cx="8229600" cy="475488"/>
          </a:xfrm>
          <a:prstGeom prst="rect">
            <a:avLst/>
          </a:prstGeom>
          <a:noFill/>
          <a:ln/>
        </p:spPr>
        <p:txBody>
          <a:bodyPr wrap="square" rtlCol="0" anchor="ctr"/>
          <a:lstStyle/>
          <a:p>
            <a:pPr indent="0" marL="0">
              <a:buNone/>
            </a:pPr>
            <a:r>
              <a:rPr lang="en-US" sz="2600" b="1" dirty="0">
                <a:solidFill>
                  <a:srgbClr val="0D1B4E"/>
                </a:solidFill>
                <a:latin typeface="Cambria" pitchFamily="34" charset="0"/>
                <a:ea typeface="Cambria" pitchFamily="34" charset="-122"/>
                <a:cs typeface="Cambria" pitchFamily="34" charset="-120"/>
              </a:rPr>
              <a:t>Gate Network &amp; Training Details</a:t>
            </a:r>
            <a:endParaRPr lang="en-US" sz="2600" dirty="0"/>
          </a:p>
        </p:txBody>
      </p:sp>
      <p:sp>
        <p:nvSpPr>
          <p:cNvPr id="5" name="Shape 3"/>
          <p:cNvSpPr/>
          <p:nvPr/>
        </p:nvSpPr>
        <p:spPr>
          <a:xfrm>
            <a:off x="457200" y="1051560"/>
            <a:ext cx="4572000" cy="3566160"/>
          </a:xfrm>
          <a:prstGeom prst="roundRect">
            <a:avLst>
              <a:gd name="adj" fmla="val 2051"/>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6" name="Text 4"/>
          <p:cNvSpPr/>
          <p:nvPr/>
        </p:nvSpPr>
        <p:spPr>
          <a:xfrm>
            <a:off x="640080" y="1188720"/>
            <a:ext cx="4206240" cy="320040"/>
          </a:xfrm>
          <a:prstGeom prst="rect">
            <a:avLst/>
          </a:prstGeom>
          <a:noFill/>
          <a:ln/>
        </p:spPr>
        <p:txBody>
          <a:bodyPr wrap="square" rtlCol="0" anchor="ctr"/>
          <a:lstStyle/>
          <a:p>
            <a:pPr indent="0" marL="0">
              <a:buNone/>
            </a:pPr>
            <a:r>
              <a:rPr lang="en-US" sz="1300" b="1" dirty="0">
                <a:solidFill>
                  <a:srgbClr val="0A7EA4"/>
                </a:solidFill>
                <a:latin typeface="Calibri" pitchFamily="34" charset="0"/>
                <a:ea typeface="Calibri" pitchFamily="34" charset="-122"/>
                <a:cs typeface="Calibri" pitchFamily="34" charset="-120"/>
              </a:rPr>
              <a:t>Adaptive Gate MLP Architecture</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4360" y="1554480"/>
          <a:ext cx="4206240" cy="2651760"/>
        </p:xfrm>
        <a:graphic>
          <a:graphicData uri="http://schemas.openxmlformats.org/drawingml/2006/table">
            <a:tbl>
              <a:tblPr/>
              <a:tblGrid>
                <a:gridCol w="1051560"/>
                <a:gridCol w="1051560"/>
                <a:gridCol w="1051560"/>
                <a:gridCol w="105156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Layer</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0D1B4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Operation</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0D1B4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Dim</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0D1B4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Params</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0D1B4E"/>
                    </a:solidFill>
                  </a:tcPr>
                </a:tc>
              </a:tr>
              <a:tr h="384048">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Input</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Concat [P_ed, P_vae, H_ed, H_vae]</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Block 1</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Linear → LayerNorm → ReLU → Drop(0.3)</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256</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~2.1K</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Block 2</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Linear → LayerNorm → ReLU → Drop(0.3)</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64</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~16.6K</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Output</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Linear → Softmax</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~130</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E293B"/>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b="1" dirty="0">
                          <a:solidFill>
                            <a:srgbClr val="1E293B"/>
                          </a:solidFill>
                          <a:latin typeface="Calibri" pitchFamily="34" charset="0"/>
                          <a:ea typeface="Calibri" pitchFamily="34" charset="-122"/>
                          <a:cs typeface="Calibri" pitchFamily="34" charset="-120"/>
                        </a:rPr>
                        <a:t>Trainable parameters</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b="1" dirty="0">
                          <a:solidFill>
                            <a:srgbClr val="1E293B"/>
                          </a:solidFill>
                          <a:latin typeface="Calibri" pitchFamily="34" charset="0"/>
                          <a:ea typeface="Calibri" pitchFamily="34" charset="-122"/>
                          <a:cs typeface="Calibri" pitchFamily="34" charset="-120"/>
                        </a:rPr>
                        <a:t>≈18.8K</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r>
            </a:tbl>
          </a:graphicData>
        </a:graphic>
      </p:graphicFrame>
      <p:sp>
        <p:nvSpPr>
          <p:cNvPr id="8" name="Shape 5"/>
          <p:cNvSpPr/>
          <p:nvPr/>
        </p:nvSpPr>
        <p:spPr>
          <a:xfrm>
            <a:off x="5212080" y="1051560"/>
            <a:ext cx="3474720" cy="3566160"/>
          </a:xfrm>
          <a:prstGeom prst="roundRect">
            <a:avLst>
              <a:gd name="adj" fmla="val 2105"/>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9" name="Text 6"/>
          <p:cNvSpPr/>
          <p:nvPr/>
        </p:nvSpPr>
        <p:spPr>
          <a:xfrm>
            <a:off x="5394960" y="1188720"/>
            <a:ext cx="3108960" cy="320040"/>
          </a:xfrm>
          <a:prstGeom prst="rect">
            <a:avLst/>
          </a:prstGeom>
          <a:noFill/>
          <a:ln/>
        </p:spPr>
        <p:txBody>
          <a:bodyPr wrap="square" rtlCol="0" anchor="ctr"/>
          <a:lstStyle/>
          <a:p>
            <a:pPr indent="0" marL="0">
              <a:buNone/>
            </a:pPr>
            <a:r>
              <a:rPr lang="en-US" sz="1300" b="1" dirty="0">
                <a:solidFill>
                  <a:srgbClr val="0A7EA4"/>
                </a:solidFill>
                <a:latin typeface="Calibri" pitchFamily="34" charset="0"/>
                <a:ea typeface="Calibri" pitchFamily="34" charset="-122"/>
                <a:cs typeface="Calibri" pitchFamily="34" charset="-120"/>
              </a:rPr>
              <a:t>Training Configuration</a:t>
            </a:r>
            <a:endParaRPr lang="en-US" sz="1300" dirty="0"/>
          </a:p>
        </p:txBody>
      </p:sp>
      <p:sp>
        <p:nvSpPr>
          <p:cNvPr id="10" name="Text 7"/>
          <p:cNvSpPr/>
          <p:nvPr/>
        </p:nvSpPr>
        <p:spPr>
          <a:xfrm>
            <a:off x="5394960" y="1554480"/>
            <a:ext cx="3108960" cy="2880360"/>
          </a:xfrm>
          <a:prstGeom prst="rect">
            <a:avLst/>
          </a:prstGeom>
          <a:noFill/>
          <a:ln/>
        </p:spPr>
        <p:txBody>
          <a:bodyPr wrap="square" rtlCol="0" anchor="t"/>
          <a:lstStyle/>
          <a:p>
            <a:pPr indent="0" marL="0">
              <a:buNone/>
            </a:pPr>
            <a:r>
              <a:rPr lang="en-US" sz="1150" b="1" dirty="0">
                <a:solidFill>
                  <a:srgbClr val="1E293B"/>
                </a:solidFill>
                <a:latin typeface="Calibri" pitchFamily="34" charset="0"/>
                <a:ea typeface="Calibri" pitchFamily="34" charset="-122"/>
                <a:cs typeface="Calibri" pitchFamily="34" charset="-120"/>
              </a:rPr>
              <a:t>Optimizer</a:t>
            </a:r>
            <a:endParaRPr lang="en-US" sz="1150" dirty="0"/>
          </a:p>
          <a:p>
            <a:pPr indent="0" marL="0">
              <a:spcAft>
                <a:spcPts val="500"/>
              </a:spcAft>
              <a:buNone/>
            </a:pPr>
            <a:r>
              <a:rPr lang="en-US" sz="1150" dirty="0">
                <a:solidFill>
                  <a:srgbClr val="1E293B"/>
                </a:solidFill>
                <a:latin typeface="Calibri" pitchFamily="34" charset="0"/>
                <a:ea typeface="Calibri" pitchFamily="34" charset="-122"/>
                <a:cs typeface="Calibri" pitchFamily="34" charset="-120"/>
              </a:rPr>
              <a:t>  AdamW  |  lr = 1e-3  |  wd = 1e-4</a:t>
            </a:r>
            <a:endParaRPr lang="en-US" sz="1150" dirty="0"/>
          </a:p>
          <a:p>
            <a:pPr indent="0" marL="0">
              <a:buNone/>
            </a:pPr>
            <a:r>
              <a:rPr lang="en-US" sz="1150" b="1" dirty="0">
                <a:solidFill>
                  <a:srgbClr val="1E293B"/>
                </a:solidFill>
                <a:latin typeface="Calibri" pitchFamily="34" charset="0"/>
                <a:ea typeface="Calibri" pitchFamily="34" charset="-122"/>
                <a:cs typeface="Calibri" pitchFamily="34" charset="-120"/>
              </a:rPr>
              <a:t>Schedule</a:t>
            </a:r>
            <a:endParaRPr lang="en-US" sz="1150" dirty="0"/>
          </a:p>
          <a:p>
            <a:pPr indent="0" marL="0">
              <a:spcAft>
                <a:spcPts val="500"/>
              </a:spcAft>
              <a:buNone/>
            </a:pPr>
            <a:r>
              <a:rPr lang="en-US" sz="1150" dirty="0">
                <a:solidFill>
                  <a:srgbClr val="1E293B"/>
                </a:solidFill>
                <a:latin typeface="Calibri" pitchFamily="34" charset="0"/>
                <a:ea typeface="Calibri" pitchFamily="34" charset="-122"/>
                <a:cs typeface="Calibri" pitchFamily="34" charset="-120"/>
              </a:rPr>
              <a:t>  Cosine Annealing  |  50 epochs</a:t>
            </a:r>
            <a:endParaRPr lang="en-US" sz="1150" dirty="0"/>
          </a:p>
          <a:p>
            <a:pPr indent="0" marL="0">
              <a:buNone/>
            </a:pPr>
            <a:r>
              <a:rPr lang="en-US" sz="1150" b="1" dirty="0">
                <a:solidFill>
                  <a:srgbClr val="1E293B"/>
                </a:solidFill>
                <a:latin typeface="Calibri" pitchFamily="34" charset="0"/>
                <a:ea typeface="Calibri" pitchFamily="34" charset="-122"/>
                <a:cs typeface="Calibri" pitchFamily="34" charset="-120"/>
              </a:rPr>
              <a:t>Gradient Clipping</a:t>
            </a:r>
            <a:endParaRPr lang="en-US" sz="1150" dirty="0"/>
          </a:p>
          <a:p>
            <a:pPr indent="0" marL="0">
              <a:spcAft>
                <a:spcPts val="500"/>
              </a:spcAft>
              <a:buNone/>
            </a:pPr>
            <a:r>
              <a:rPr lang="en-US" sz="1150" dirty="0">
                <a:solidFill>
                  <a:srgbClr val="1E293B"/>
                </a:solidFill>
                <a:latin typeface="Calibri" pitchFamily="34" charset="0"/>
                <a:ea typeface="Calibri" pitchFamily="34" charset="-122"/>
                <a:cs typeface="Calibri" pitchFamily="34" charset="-120"/>
              </a:rPr>
              <a:t>  max norm = 1.0</a:t>
            </a:r>
            <a:endParaRPr lang="en-US" sz="1150" dirty="0"/>
          </a:p>
          <a:p>
            <a:pPr indent="0" marL="0">
              <a:buNone/>
            </a:pPr>
            <a:r>
              <a:rPr lang="en-US" sz="1150" b="1" dirty="0">
                <a:solidFill>
                  <a:srgbClr val="1E293B"/>
                </a:solidFill>
                <a:latin typeface="Calibri" pitchFamily="34" charset="0"/>
                <a:ea typeface="Calibri" pitchFamily="34" charset="-122"/>
                <a:cs typeface="Calibri" pitchFamily="34" charset="-120"/>
              </a:rPr>
              <a:t>Batch Size</a:t>
            </a:r>
            <a:endParaRPr lang="en-US" sz="1150" dirty="0"/>
          </a:p>
          <a:p>
            <a:pPr indent="0" marL="0">
              <a:spcAft>
                <a:spcPts val="500"/>
              </a:spcAft>
              <a:buNone/>
            </a:pPr>
            <a:r>
              <a:rPr lang="en-US" sz="1150" dirty="0">
                <a:solidFill>
                  <a:srgbClr val="1E293B"/>
                </a:solidFill>
                <a:latin typeface="Calibri" pitchFamily="34" charset="0"/>
                <a:ea typeface="Calibri" pitchFamily="34" charset="-122"/>
                <a:cs typeface="Calibri" pitchFamily="34" charset="-120"/>
              </a:rPr>
              <a:t>  512 (cached logits)</a:t>
            </a:r>
            <a:endParaRPr lang="en-US" sz="1150" dirty="0"/>
          </a:p>
          <a:p>
            <a:pPr indent="0" marL="0">
              <a:buNone/>
            </a:pPr>
            <a:r>
              <a:rPr lang="en-US" sz="1150" b="1" dirty="0">
                <a:solidFill>
                  <a:srgbClr val="1E293B"/>
                </a:solidFill>
                <a:latin typeface="Calibri" pitchFamily="34" charset="0"/>
                <a:ea typeface="Calibri" pitchFamily="34" charset="-122"/>
                <a:cs typeface="Calibri" pitchFamily="34" charset="-120"/>
              </a:rPr>
              <a:t>Loss Functions</a:t>
            </a:r>
            <a:endParaRPr lang="en-US" sz="1150" dirty="0"/>
          </a:p>
          <a:p>
            <a:pPr indent="0" marL="0">
              <a:spcAft>
                <a:spcPts val="500"/>
              </a:spcAft>
              <a:buNone/>
            </a:pPr>
            <a:r>
              <a:rPr lang="en-US" sz="1150" dirty="0">
                <a:solidFill>
                  <a:srgbClr val="1E293B"/>
                </a:solidFill>
                <a:latin typeface="Calibri" pitchFamily="34" charset="0"/>
                <a:ea typeface="Calibri" pitchFamily="34" charset="-122"/>
                <a:cs typeface="Calibri" pitchFamily="34" charset="-120"/>
              </a:rPr>
              <a:t>  CE  vs  Focal (α=0.25, γ=2.0)</a:t>
            </a:r>
            <a:endParaRPr lang="en-US" sz="1150" dirty="0"/>
          </a:p>
          <a:p>
            <a:pPr indent="0" marL="0">
              <a:buNone/>
            </a:pPr>
            <a:r>
              <a:rPr lang="en-US" sz="1150" b="1" dirty="0">
                <a:solidFill>
                  <a:srgbClr val="1E293B"/>
                </a:solidFill>
                <a:latin typeface="Calibri" pitchFamily="34" charset="0"/>
                <a:ea typeface="Calibri" pitchFamily="34" charset="-122"/>
                <a:cs typeface="Calibri" pitchFamily="34" charset="-120"/>
              </a:rPr>
              <a:t>Compute</a:t>
            </a:r>
            <a:endParaRPr lang="en-US" sz="1150" dirty="0"/>
          </a:p>
          <a:p>
            <a:pPr indent="0" marL="0">
              <a:buNone/>
            </a:pPr>
            <a:r>
              <a:rPr lang="en-US" sz="1150" dirty="0">
                <a:solidFill>
                  <a:srgbClr val="1E293B"/>
                </a:solidFill>
                <a:latin typeface="Calibri" pitchFamily="34" charset="0"/>
                <a:ea typeface="Calibri" pitchFamily="34" charset="-122"/>
                <a:cs typeface="Calibri" pitchFamily="34" charset="-120"/>
              </a:rPr>
              <a:t>  Kaggle  2× NVIDIA Tesla T4</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164592"/>
            <a:ext cx="1920240" cy="256032"/>
          </a:xfrm>
          <a:prstGeom prst="roundRect">
            <a:avLst>
              <a:gd name="adj" fmla="val 50000"/>
            </a:avLst>
          </a:prstGeom>
          <a:solidFill>
            <a:srgbClr val="0A7EA4"/>
          </a:solidFill>
          <a:ln w="12700">
            <a:solidFill>
              <a:srgbClr val="0A7EA4"/>
            </a:solidFill>
            <a:prstDash val="solid"/>
          </a:ln>
        </p:spPr>
      </p:sp>
      <p:sp>
        <p:nvSpPr>
          <p:cNvPr id="3" name="Text 1"/>
          <p:cNvSpPr/>
          <p:nvPr/>
        </p:nvSpPr>
        <p:spPr>
          <a:xfrm>
            <a:off x="457200" y="164592"/>
            <a:ext cx="1920240" cy="256032"/>
          </a:xfrm>
          <a:prstGeom prst="rect">
            <a:avLst/>
          </a:prstGeom>
          <a:noFill/>
          <a:ln/>
        </p:spPr>
        <p:txBody>
          <a:bodyPr wrap="square" lIns="0" tIns="0" rIns="0" bIns="0" rtlCol="0" anchor="ctr"/>
          <a:lstStyle/>
          <a:p>
            <a:pPr algn="ctr" indent="0" marL="0">
              <a:buNone/>
            </a:pPr>
            <a:r>
              <a:rPr lang="en-US" sz="900" b="1" dirty="0">
                <a:solidFill>
                  <a:srgbClr val="FFFFFF"/>
                </a:solidFill>
              </a:rPr>
              <a:t>EXPERIMENTS</a:t>
            </a:r>
            <a:endParaRPr lang="en-US" sz="900" dirty="0"/>
          </a:p>
        </p:txBody>
      </p:sp>
      <p:sp>
        <p:nvSpPr>
          <p:cNvPr id="4" name="Text 2"/>
          <p:cNvSpPr/>
          <p:nvPr/>
        </p:nvSpPr>
        <p:spPr>
          <a:xfrm>
            <a:off x="457200" y="475488"/>
            <a:ext cx="8229600" cy="475488"/>
          </a:xfrm>
          <a:prstGeom prst="rect">
            <a:avLst/>
          </a:prstGeom>
          <a:noFill/>
          <a:ln/>
        </p:spPr>
        <p:txBody>
          <a:bodyPr wrap="square" rtlCol="0" anchor="ctr"/>
          <a:lstStyle/>
          <a:p>
            <a:pPr indent="0" marL="0">
              <a:buNone/>
            </a:pPr>
            <a:r>
              <a:rPr lang="en-US" sz="2600" b="1" dirty="0">
                <a:solidFill>
                  <a:srgbClr val="0D1B4E"/>
                </a:solidFill>
                <a:latin typeface="Cambria" pitchFamily="34" charset="0"/>
                <a:ea typeface="Cambria" pitchFamily="34" charset="-122"/>
                <a:cs typeface="Cambria" pitchFamily="34" charset="-120"/>
              </a:rPr>
              <a:t>Dataset &amp; Evaluation Setup</a:t>
            </a:r>
            <a:endParaRPr lang="en-US" sz="2600" dirty="0"/>
          </a:p>
        </p:txBody>
      </p:sp>
      <p:sp>
        <p:nvSpPr>
          <p:cNvPr id="5" name="Shape 3"/>
          <p:cNvSpPr/>
          <p:nvPr/>
        </p:nvSpPr>
        <p:spPr>
          <a:xfrm>
            <a:off x="457200" y="1051560"/>
            <a:ext cx="5120640" cy="3566160"/>
          </a:xfrm>
          <a:prstGeom prst="roundRect">
            <a:avLst>
              <a:gd name="adj" fmla="val 2051"/>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6" name="Text 4"/>
          <p:cNvSpPr/>
          <p:nvPr/>
        </p:nvSpPr>
        <p:spPr>
          <a:xfrm>
            <a:off x="640080" y="1188720"/>
            <a:ext cx="4663440" cy="320040"/>
          </a:xfrm>
          <a:prstGeom prst="rect">
            <a:avLst/>
          </a:prstGeom>
          <a:noFill/>
          <a:ln/>
        </p:spPr>
        <p:txBody>
          <a:bodyPr wrap="square" rtlCol="0" anchor="ctr"/>
          <a:lstStyle/>
          <a:p>
            <a:pPr indent="0" marL="0">
              <a:buNone/>
            </a:pPr>
            <a:r>
              <a:rPr lang="en-US" sz="1300" b="1" dirty="0">
                <a:solidFill>
                  <a:srgbClr val="0A7EA4"/>
                </a:solidFill>
                <a:latin typeface="Calibri" pitchFamily="34" charset="0"/>
                <a:ea typeface="Calibri" pitchFamily="34" charset="-122"/>
                <a:cs typeface="Calibri" pitchFamily="34" charset="-120"/>
              </a:rPr>
              <a:t>FaceForensics++ Dataset</a:t>
            </a:r>
            <a:endParaRPr lang="en-US" sz="1300" dirty="0"/>
          </a:p>
        </p:txBody>
      </p:sp>
      <p:sp>
        <p:nvSpPr>
          <p:cNvPr id="7" name="Text 5"/>
          <p:cNvSpPr/>
          <p:nvPr/>
        </p:nvSpPr>
        <p:spPr>
          <a:xfrm>
            <a:off x="640080" y="1572768"/>
            <a:ext cx="4663440" cy="2011680"/>
          </a:xfrm>
          <a:prstGeom prst="rect">
            <a:avLst/>
          </a:prstGeom>
          <a:noFill/>
          <a:ln/>
        </p:spPr>
        <p:txBody>
          <a:bodyPr wrap="square" rtlCol="0" anchor="t"/>
          <a:lstStyle/>
          <a:p>
            <a:pPr indent="0" marL="0">
              <a:buNone/>
            </a:pPr>
            <a:r>
              <a:rPr lang="en-US" sz="1200" b="1" dirty="0">
                <a:solidFill>
                  <a:srgbClr val="1E293B"/>
                </a:solidFill>
                <a:latin typeface="Calibri" pitchFamily="34" charset="0"/>
                <a:ea typeface="Calibri" pitchFamily="34" charset="-122"/>
                <a:cs typeface="Calibri" pitchFamily="34" charset="-120"/>
              </a:rPr>
              <a:t>5 manipulation types:</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Deepfakes  ·  Face2Face  ·  FaceSwap</a:t>
            </a:r>
            <a:endParaRPr lang="en-US" sz="1200" dirty="0"/>
          </a:p>
          <a:p>
            <a:pPr indent="0" marL="0">
              <a:spcAft>
                <a:spcPts val="500"/>
              </a:spcAft>
              <a:buNone/>
            </a:pPr>
            <a:r>
              <a:rPr lang="en-US" sz="1200" dirty="0">
                <a:solidFill>
                  <a:srgbClr val="1E293B"/>
                </a:solidFill>
                <a:latin typeface="Calibri" pitchFamily="34" charset="0"/>
                <a:ea typeface="Calibri" pitchFamily="34" charset="-122"/>
                <a:cs typeface="Calibri" pitchFamily="34" charset="-120"/>
              </a:rPr>
              <a:t>  NeuralTextures  ·  FaceShifter</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Balanced sampling:</a:t>
            </a:r>
            <a:endParaRPr lang="en-US" sz="1200" dirty="0"/>
          </a:p>
          <a:p>
            <a:pPr indent="0" marL="0">
              <a:spcAft>
                <a:spcPts val="500"/>
              </a:spcAft>
              <a:buNone/>
            </a:pPr>
            <a:r>
              <a:rPr lang="en-US" sz="1200" dirty="0">
                <a:solidFill>
                  <a:srgbClr val="1E293B"/>
                </a:solidFill>
                <a:latin typeface="Calibri" pitchFamily="34" charset="0"/>
                <a:ea typeface="Calibri" pitchFamily="34" charset="-122"/>
                <a:cs typeface="Calibri" pitchFamily="34" charset="-120"/>
              </a:rPr>
              <a:t>  Up to 5,000 frames per class → 10,000 total</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Faces cropped &amp; resized to 224×224 px</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Random seed 42  |  Stratified splits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3291840"/>
          <a:ext cx="4800600" cy="1188720"/>
        </p:xfrm>
        <a:graphic>
          <a:graphicData uri="http://schemas.openxmlformats.org/drawingml/2006/table">
            <a:tbl>
              <a:tblPr/>
              <a:tblGrid>
                <a:gridCol w="1200150"/>
                <a:gridCol w="1200150"/>
                <a:gridCol w="1200150"/>
                <a:gridCol w="120015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Split</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0D1B4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Fraction</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0D1B4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Size</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0D1B4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0D1B4E"/>
                    </a:solidFill>
                  </a:tcPr>
                </a:tc>
              </a:tr>
              <a:tr h="274320">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Train</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~7,000</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Gate training</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Validation</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~1,500</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Hyperparameter tuning</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Test</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~1,500</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Final evaluation</a:t>
                      </a:r>
                      <a:endParaRPr lang="en-US" sz="105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r>
            </a:tbl>
          </a:graphicData>
        </a:graphic>
      </p:graphicFrame>
      <p:sp>
        <p:nvSpPr>
          <p:cNvPr id="9" name="Shape 6"/>
          <p:cNvSpPr/>
          <p:nvPr/>
        </p:nvSpPr>
        <p:spPr>
          <a:xfrm>
            <a:off x="5715000" y="1051560"/>
            <a:ext cx="3017520" cy="3566160"/>
          </a:xfrm>
          <a:prstGeom prst="roundRect">
            <a:avLst>
              <a:gd name="adj" fmla="val 2424"/>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10" name="Text 7"/>
          <p:cNvSpPr/>
          <p:nvPr/>
        </p:nvSpPr>
        <p:spPr>
          <a:xfrm>
            <a:off x="5897880" y="1188720"/>
            <a:ext cx="2651760" cy="320040"/>
          </a:xfrm>
          <a:prstGeom prst="rect">
            <a:avLst/>
          </a:prstGeom>
          <a:noFill/>
          <a:ln/>
        </p:spPr>
        <p:txBody>
          <a:bodyPr wrap="square" rtlCol="0" anchor="ctr"/>
          <a:lstStyle/>
          <a:p>
            <a:pPr indent="0" marL="0">
              <a:buNone/>
            </a:pPr>
            <a:r>
              <a:rPr lang="en-US" sz="1300" b="1" dirty="0">
                <a:solidFill>
                  <a:srgbClr val="0A7EA4"/>
                </a:solidFill>
                <a:latin typeface="Calibri" pitchFamily="34" charset="0"/>
                <a:ea typeface="Calibri" pitchFamily="34" charset="-122"/>
                <a:cs typeface="Calibri" pitchFamily="34" charset="-120"/>
              </a:rPr>
              <a:t>Evaluation Metrics</a:t>
            </a:r>
            <a:endParaRPr lang="en-US" sz="1300" dirty="0"/>
          </a:p>
        </p:txBody>
      </p:sp>
      <p:sp>
        <p:nvSpPr>
          <p:cNvPr id="11" name="Text 8"/>
          <p:cNvSpPr/>
          <p:nvPr/>
        </p:nvSpPr>
        <p:spPr>
          <a:xfrm>
            <a:off x="5897880" y="1572768"/>
            <a:ext cx="2651760" cy="2834640"/>
          </a:xfrm>
          <a:prstGeom prst="rect">
            <a:avLst/>
          </a:prstGeom>
          <a:noFill/>
          <a:ln/>
        </p:spPr>
        <p:txBody>
          <a:bodyPr wrap="square" rtlCol="0" anchor="t"/>
          <a:lstStyle/>
          <a:p>
            <a:pPr indent="0" marL="0">
              <a:buNone/>
            </a:pPr>
            <a:r>
              <a:rPr lang="en-US" sz="1150" b="1" dirty="0">
                <a:solidFill>
                  <a:srgbClr val="1E293B"/>
                </a:solidFill>
                <a:latin typeface="Calibri" pitchFamily="34" charset="0"/>
                <a:ea typeface="Calibri" pitchFamily="34" charset="-122"/>
                <a:cs typeface="Calibri" pitchFamily="34" charset="-120"/>
              </a:rPr>
              <a:t>Accuracy</a:t>
            </a:r>
            <a:endParaRPr lang="en-US" sz="1150" dirty="0"/>
          </a:p>
          <a:p>
            <a:pPr indent="0" marL="0">
              <a:spcAft>
                <a:spcPts val="800"/>
              </a:spcAft>
              <a:buNone/>
            </a:pPr>
            <a:r>
              <a:rPr lang="en-US" sz="1150" dirty="0">
                <a:solidFill>
                  <a:srgbClr val="1E293B"/>
                </a:solidFill>
                <a:latin typeface="Calibri" pitchFamily="34" charset="0"/>
                <a:ea typeface="Calibri" pitchFamily="34" charset="-122"/>
                <a:cs typeface="Calibri" pitchFamily="34" charset="-120"/>
              </a:rPr>
              <a:t>  Overall classification rate</a:t>
            </a:r>
            <a:endParaRPr lang="en-US" sz="1150" dirty="0"/>
          </a:p>
          <a:p>
            <a:pPr indent="0" marL="0">
              <a:buNone/>
            </a:pPr>
            <a:r>
              <a:rPr lang="en-US" sz="1150" b="1" dirty="0">
                <a:solidFill>
                  <a:srgbClr val="1E293B"/>
                </a:solidFill>
                <a:latin typeface="Calibri" pitchFamily="34" charset="0"/>
                <a:ea typeface="Calibri" pitchFamily="34" charset="-122"/>
                <a:cs typeface="Calibri" pitchFamily="34" charset="-120"/>
              </a:rPr>
              <a:t>F1-Score (Fake)</a:t>
            </a:r>
            <a:endParaRPr lang="en-US" sz="1150" dirty="0"/>
          </a:p>
          <a:p>
            <a:pPr indent="0" marL="0">
              <a:spcAft>
                <a:spcPts val="800"/>
              </a:spcAft>
              <a:buNone/>
            </a:pPr>
            <a:r>
              <a:rPr lang="en-US" sz="1150" dirty="0">
                <a:solidFill>
                  <a:srgbClr val="1E293B"/>
                </a:solidFill>
                <a:latin typeface="Calibri" pitchFamily="34" charset="0"/>
                <a:ea typeface="Calibri" pitchFamily="34" charset="-122"/>
                <a:cs typeface="Calibri" pitchFamily="34" charset="-120"/>
              </a:rPr>
              <a:t>  Binary F1 for Fake class</a:t>
            </a:r>
            <a:endParaRPr lang="en-US" sz="1150" dirty="0"/>
          </a:p>
          <a:p>
            <a:pPr indent="0" marL="0">
              <a:buNone/>
            </a:pPr>
            <a:r>
              <a:rPr lang="en-US" sz="1150" b="1" dirty="0">
                <a:solidFill>
                  <a:srgbClr val="1E293B"/>
                </a:solidFill>
                <a:latin typeface="Calibri" pitchFamily="34" charset="0"/>
                <a:ea typeface="Calibri" pitchFamily="34" charset="-122"/>
                <a:cs typeface="Calibri" pitchFamily="34" charset="-120"/>
              </a:rPr>
              <a:t>AUC-ROC</a:t>
            </a:r>
            <a:endParaRPr lang="en-US" sz="1150" dirty="0"/>
          </a:p>
          <a:p>
            <a:pPr indent="0" marL="0">
              <a:spcAft>
                <a:spcPts val="800"/>
              </a:spcAft>
              <a:buNone/>
            </a:pPr>
            <a:r>
              <a:rPr lang="en-US" sz="1150" dirty="0">
                <a:solidFill>
                  <a:srgbClr val="1E293B"/>
                </a:solidFill>
                <a:latin typeface="Calibri" pitchFamily="34" charset="0"/>
                <a:ea typeface="Calibri" pitchFamily="34" charset="-122"/>
                <a:cs typeface="Calibri" pitchFamily="34" charset="-120"/>
              </a:rPr>
              <a:t>  Discrimination ability</a:t>
            </a:r>
            <a:endParaRPr lang="en-US" sz="1150" dirty="0"/>
          </a:p>
          <a:p>
            <a:pPr indent="0" marL="0">
              <a:buNone/>
            </a:pPr>
            <a:r>
              <a:rPr lang="en-US" sz="1150" b="1" dirty="0">
                <a:solidFill>
                  <a:srgbClr val="1E293B"/>
                </a:solidFill>
                <a:latin typeface="Calibri" pitchFamily="34" charset="0"/>
                <a:ea typeface="Calibri" pitchFamily="34" charset="-122"/>
                <a:cs typeface="Calibri" pitchFamily="34" charset="-120"/>
              </a:rPr>
              <a:t>Model Selection</a:t>
            </a:r>
            <a:endParaRPr lang="en-US" sz="1150" dirty="0"/>
          </a:p>
          <a:p>
            <a:pPr indent="0" marL="0">
              <a:spcAft>
                <a:spcPts val="800"/>
              </a:spcAft>
              <a:buNone/>
            </a:pPr>
            <a:r>
              <a:rPr lang="en-US" sz="1150" dirty="0">
                <a:solidFill>
                  <a:srgbClr val="1E293B"/>
                </a:solidFill>
                <a:latin typeface="Calibri" pitchFamily="34" charset="0"/>
                <a:ea typeface="Calibri" pitchFamily="34" charset="-122"/>
                <a:cs typeface="Calibri" pitchFamily="34" charset="-120"/>
              </a:rPr>
              <a:t>  Best validation F1</a:t>
            </a:r>
            <a:endParaRPr lang="en-US" sz="1150" dirty="0"/>
          </a:p>
          <a:p>
            <a:pPr indent="0" marL="0">
              <a:buNone/>
            </a:pPr>
            <a:r>
              <a:rPr lang="en-US" sz="1150" b="1" dirty="0">
                <a:solidFill>
                  <a:srgbClr val="1E293B"/>
                </a:solidFill>
                <a:latin typeface="Calibri" pitchFamily="34" charset="0"/>
                <a:ea typeface="Calibri" pitchFamily="34" charset="-122"/>
                <a:cs typeface="Calibri" pitchFamily="34" charset="-120"/>
              </a:rPr>
              <a:t>LODO Protocol</a:t>
            </a:r>
            <a:endParaRPr lang="en-US" sz="1150" dirty="0"/>
          </a:p>
          <a:p>
            <a:pPr indent="0" marL="0">
              <a:buNone/>
            </a:pPr>
            <a:r>
              <a:rPr lang="en-US" sz="1150" dirty="0">
                <a:solidFill>
                  <a:srgbClr val="1E293B"/>
                </a:solidFill>
                <a:latin typeface="Calibri" pitchFamily="34" charset="0"/>
                <a:ea typeface="Calibri" pitchFamily="34" charset="-122"/>
                <a:cs typeface="Calibri" pitchFamily="34" charset="-120"/>
              </a:rPr>
              <a:t>  Out-of-distribution generalization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164592"/>
            <a:ext cx="1920240" cy="256032"/>
          </a:xfrm>
          <a:prstGeom prst="roundRect">
            <a:avLst>
              <a:gd name="adj" fmla="val 50000"/>
            </a:avLst>
          </a:prstGeom>
          <a:solidFill>
            <a:srgbClr val="0A7EA4"/>
          </a:solidFill>
          <a:ln w="12700">
            <a:solidFill>
              <a:srgbClr val="0A7EA4"/>
            </a:solidFill>
            <a:prstDash val="solid"/>
          </a:ln>
        </p:spPr>
      </p:sp>
      <p:sp>
        <p:nvSpPr>
          <p:cNvPr id="3" name="Text 1"/>
          <p:cNvSpPr/>
          <p:nvPr/>
        </p:nvSpPr>
        <p:spPr>
          <a:xfrm>
            <a:off x="457200" y="164592"/>
            <a:ext cx="1920240" cy="256032"/>
          </a:xfrm>
          <a:prstGeom prst="rect">
            <a:avLst/>
          </a:prstGeom>
          <a:noFill/>
          <a:ln/>
        </p:spPr>
        <p:txBody>
          <a:bodyPr wrap="square" lIns="0" tIns="0" rIns="0" bIns="0" rtlCol="0" anchor="ctr"/>
          <a:lstStyle/>
          <a:p>
            <a:pPr algn="ctr" indent="0" marL="0">
              <a:buNone/>
            </a:pPr>
            <a:r>
              <a:rPr lang="en-US" sz="900" b="1" dirty="0">
                <a:solidFill>
                  <a:srgbClr val="FFFFFF"/>
                </a:solidFill>
              </a:rPr>
              <a:t>RESULTS</a:t>
            </a:r>
            <a:endParaRPr lang="en-US" sz="900" dirty="0"/>
          </a:p>
        </p:txBody>
      </p:sp>
      <p:sp>
        <p:nvSpPr>
          <p:cNvPr id="4" name="Text 2"/>
          <p:cNvSpPr/>
          <p:nvPr/>
        </p:nvSpPr>
        <p:spPr>
          <a:xfrm>
            <a:off x="457200" y="475488"/>
            <a:ext cx="8229600" cy="475488"/>
          </a:xfrm>
          <a:prstGeom prst="rect">
            <a:avLst/>
          </a:prstGeom>
          <a:noFill/>
          <a:ln/>
        </p:spPr>
        <p:txBody>
          <a:bodyPr wrap="square" rtlCol="0" anchor="ctr"/>
          <a:lstStyle/>
          <a:p>
            <a:pPr indent="0" marL="0">
              <a:buNone/>
            </a:pPr>
            <a:r>
              <a:rPr lang="en-US" sz="2600" b="1" dirty="0">
                <a:solidFill>
                  <a:srgbClr val="0D1B4E"/>
                </a:solidFill>
                <a:latin typeface="Cambria" pitchFamily="34" charset="0"/>
                <a:ea typeface="Cambria" pitchFamily="34" charset="-122"/>
                <a:cs typeface="Cambria" pitchFamily="34" charset="-120"/>
              </a:rPr>
              <a:t>Training Curves: 50 Epochs</a:t>
            </a:r>
            <a:endParaRPr lang="en-US" sz="2600" dirty="0"/>
          </a:p>
        </p:txBody>
      </p:sp>
      <p:sp>
        <p:nvSpPr>
          <p:cNvPr id="5" name="Shape 3"/>
          <p:cNvSpPr/>
          <p:nvPr/>
        </p:nvSpPr>
        <p:spPr>
          <a:xfrm>
            <a:off x="365760" y="1005840"/>
            <a:ext cx="2743200" cy="2514600"/>
          </a:xfrm>
          <a:prstGeom prst="roundRect">
            <a:avLst>
              <a:gd name="adj" fmla="val 2909"/>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pic>
        <p:nvPicPr>
          <p:cNvPr id="6" name="Image 0" descr="/home/claude/acc.png">    </p:cNvPr>
          <p:cNvPicPr>
            <a:picLocks noChangeAspect="1"/>
          </p:cNvPicPr>
          <p:nvPr/>
        </p:nvPicPr>
        <p:blipFill>
          <a:blip r:embed="rId1"/>
          <a:stretch>
            <a:fillRect/>
          </a:stretch>
        </p:blipFill>
        <p:spPr>
          <a:xfrm>
            <a:off x="411480" y="1051560"/>
            <a:ext cx="2697480" cy="2084832"/>
          </a:xfrm>
          <a:prstGeom prst="rect">
            <a:avLst/>
          </a:prstGeom>
        </p:spPr>
      </p:pic>
      <p:sp>
        <p:nvSpPr>
          <p:cNvPr id="7" name="Shape 4"/>
          <p:cNvSpPr/>
          <p:nvPr/>
        </p:nvSpPr>
        <p:spPr>
          <a:xfrm>
            <a:off x="3200400" y="1005840"/>
            <a:ext cx="2743200" cy="2514600"/>
          </a:xfrm>
          <a:prstGeom prst="roundRect">
            <a:avLst>
              <a:gd name="adj" fmla="val 2909"/>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pic>
        <p:nvPicPr>
          <p:cNvPr id="8" name="Image 1" descr="/home/claude/auc.png">    </p:cNvPr>
          <p:cNvPicPr>
            <a:picLocks noChangeAspect="1"/>
          </p:cNvPicPr>
          <p:nvPr/>
        </p:nvPicPr>
        <p:blipFill>
          <a:blip r:embed="rId2"/>
          <a:stretch>
            <a:fillRect/>
          </a:stretch>
        </p:blipFill>
        <p:spPr>
          <a:xfrm>
            <a:off x="3246120" y="1051560"/>
            <a:ext cx="2697480" cy="2084832"/>
          </a:xfrm>
          <a:prstGeom prst="rect">
            <a:avLst/>
          </a:prstGeom>
        </p:spPr>
      </p:pic>
      <p:sp>
        <p:nvSpPr>
          <p:cNvPr id="9" name="Shape 5"/>
          <p:cNvSpPr/>
          <p:nvPr/>
        </p:nvSpPr>
        <p:spPr>
          <a:xfrm>
            <a:off x="6035040" y="1005840"/>
            <a:ext cx="2743200" cy="2514600"/>
          </a:xfrm>
          <a:prstGeom prst="roundRect">
            <a:avLst>
              <a:gd name="adj" fmla="val 2909"/>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pic>
        <p:nvPicPr>
          <p:cNvPr id="10" name="Image 2" descr="/home/claude/f1.png">    </p:cNvPr>
          <p:cNvPicPr>
            <a:picLocks noChangeAspect="1"/>
          </p:cNvPicPr>
          <p:nvPr/>
        </p:nvPicPr>
        <p:blipFill>
          <a:blip r:embed="rId3"/>
          <a:stretch>
            <a:fillRect/>
          </a:stretch>
        </p:blipFill>
        <p:spPr>
          <a:xfrm>
            <a:off x="6080760" y="1051560"/>
            <a:ext cx="2697480" cy="2084832"/>
          </a:xfrm>
          <a:prstGeom prst="rect">
            <a:avLst/>
          </a:prstGeom>
        </p:spPr>
      </p:pic>
      <p:sp>
        <p:nvSpPr>
          <p:cNvPr id="11" name="Shape 6"/>
          <p:cNvSpPr/>
          <p:nvPr/>
        </p:nvSpPr>
        <p:spPr>
          <a:xfrm>
            <a:off x="365760" y="3611880"/>
            <a:ext cx="8412480" cy="1280160"/>
          </a:xfrm>
          <a:prstGeom prst="roundRect">
            <a:avLst>
              <a:gd name="adj" fmla="val 5714"/>
            </a:avLst>
          </a:prstGeom>
          <a:solidFill>
            <a:srgbClr val="EBF5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12" name="Text 7"/>
          <p:cNvSpPr/>
          <p:nvPr/>
        </p:nvSpPr>
        <p:spPr>
          <a:xfrm>
            <a:off x="594360" y="3703320"/>
            <a:ext cx="1828800" cy="256032"/>
          </a:xfrm>
          <a:prstGeom prst="rect">
            <a:avLst/>
          </a:prstGeom>
          <a:noFill/>
          <a:ln/>
        </p:spPr>
        <p:txBody>
          <a:bodyPr wrap="square" rtlCol="0" anchor="ctr"/>
          <a:lstStyle/>
          <a:p>
            <a:pPr indent="0" marL="0">
              <a:buNone/>
            </a:pPr>
            <a:r>
              <a:rPr lang="en-US" sz="1100" b="1" dirty="0">
                <a:solidFill>
                  <a:srgbClr val="0D1B4E"/>
                </a:solidFill>
                <a:latin typeface="Calibri" pitchFamily="34" charset="0"/>
                <a:ea typeface="Calibri" pitchFamily="34" charset="-122"/>
                <a:cs typeface="Calibri" pitchFamily="34" charset="-120"/>
              </a:rPr>
              <a:t>Key Observations</a:t>
            </a:r>
            <a:endParaRPr lang="en-US" sz="1100" dirty="0"/>
          </a:p>
        </p:txBody>
      </p:sp>
      <p:sp>
        <p:nvSpPr>
          <p:cNvPr id="13" name="Text 8"/>
          <p:cNvSpPr/>
          <p:nvPr/>
        </p:nvSpPr>
        <p:spPr>
          <a:xfrm>
            <a:off x="594360" y="3977640"/>
            <a:ext cx="8046720" cy="777240"/>
          </a:xfrm>
          <a:prstGeom prst="rect">
            <a:avLst/>
          </a:prstGeom>
          <a:noFill/>
          <a:ln/>
        </p:spPr>
        <p:txBody>
          <a:bodyPr wrap="square" rtlCol="0" anchor="t"/>
          <a:lstStyle/>
          <a:p>
            <a:pPr indent="0" marL="0">
              <a:buNone/>
            </a:pPr>
            <a:r>
              <a:rPr lang="en-US" sz="1150" dirty="0">
                <a:solidFill>
                  <a:srgbClr val="1E293B"/>
                </a:solidFill>
                <a:latin typeface="Calibri" pitchFamily="34" charset="0"/>
                <a:ea typeface="Calibri" pitchFamily="34" charset="-122"/>
                <a:cs typeface="Calibri" pitchFamily="34" charset="-120"/>
              </a:rPr>
              <a:t>Rapid convergence in 5–10 epochs  ·  </a:t>
            </a:r>
            <a:pPr indent="0" marL="0">
              <a:buNone/>
            </a:pPr>
            <a:r>
              <a:rPr lang="en-US" sz="1150" dirty="0">
                <a:solidFill>
                  <a:srgbClr val="1E293B"/>
                </a:solidFill>
                <a:latin typeface="Calibri" pitchFamily="34" charset="0"/>
                <a:ea typeface="Calibri" pitchFamily="34" charset="-122"/>
                <a:cs typeface="Calibri" pitchFamily="34" charset="-120"/>
              </a:rPr>
              <a:t>CE achieves higher, more stable AUC ceiling  ·  </a:t>
            </a:r>
            <a:pPr indent="0" marL="0">
              <a:buNone/>
            </a:pPr>
            <a:r>
              <a:rPr lang="en-US" sz="1150" dirty="0">
                <a:solidFill>
                  <a:srgbClr val="1E293B"/>
                </a:solidFill>
                <a:latin typeface="Calibri" pitchFamily="34" charset="0"/>
                <a:ea typeface="Calibri" pitchFamily="34" charset="-122"/>
                <a:cs typeface="Calibri" pitchFamily="34" charset="-120"/>
              </a:rPr>
              <a:t>Both models consistently above static baseline throughout all 50 epochs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164592"/>
            <a:ext cx="1920240" cy="256032"/>
          </a:xfrm>
          <a:prstGeom prst="roundRect">
            <a:avLst>
              <a:gd name="adj" fmla="val 50000"/>
            </a:avLst>
          </a:prstGeom>
          <a:solidFill>
            <a:srgbClr val="0A7EA4"/>
          </a:solidFill>
          <a:ln w="12700">
            <a:solidFill>
              <a:srgbClr val="0A7EA4"/>
            </a:solidFill>
            <a:prstDash val="solid"/>
          </a:ln>
        </p:spPr>
      </p:sp>
      <p:sp>
        <p:nvSpPr>
          <p:cNvPr id="3" name="Text 1"/>
          <p:cNvSpPr/>
          <p:nvPr/>
        </p:nvSpPr>
        <p:spPr>
          <a:xfrm>
            <a:off x="457200" y="164592"/>
            <a:ext cx="1920240" cy="256032"/>
          </a:xfrm>
          <a:prstGeom prst="rect">
            <a:avLst/>
          </a:prstGeom>
          <a:noFill/>
          <a:ln/>
        </p:spPr>
        <p:txBody>
          <a:bodyPr wrap="square" lIns="0" tIns="0" rIns="0" bIns="0" rtlCol="0" anchor="ctr"/>
          <a:lstStyle/>
          <a:p>
            <a:pPr algn="ctr" indent="0" marL="0">
              <a:buNone/>
            </a:pPr>
            <a:r>
              <a:rPr lang="en-US" sz="900" b="1" dirty="0">
                <a:solidFill>
                  <a:srgbClr val="FFFFFF"/>
                </a:solidFill>
              </a:rPr>
              <a:t>RESULTS</a:t>
            </a:r>
            <a:endParaRPr lang="en-US" sz="900" dirty="0"/>
          </a:p>
        </p:txBody>
      </p:sp>
      <p:sp>
        <p:nvSpPr>
          <p:cNvPr id="4" name="Text 2"/>
          <p:cNvSpPr/>
          <p:nvPr/>
        </p:nvSpPr>
        <p:spPr>
          <a:xfrm>
            <a:off x="457200" y="475488"/>
            <a:ext cx="8229600" cy="475488"/>
          </a:xfrm>
          <a:prstGeom prst="rect">
            <a:avLst/>
          </a:prstGeom>
          <a:noFill/>
          <a:ln/>
        </p:spPr>
        <p:txBody>
          <a:bodyPr wrap="square" rtlCol="0" anchor="ctr"/>
          <a:lstStyle/>
          <a:p>
            <a:pPr indent="0" marL="0">
              <a:buNone/>
            </a:pPr>
            <a:r>
              <a:rPr lang="en-US" sz="2600" b="1" dirty="0">
                <a:solidFill>
                  <a:srgbClr val="0D1B4E"/>
                </a:solidFill>
                <a:latin typeface="Cambria" pitchFamily="34" charset="0"/>
                <a:ea typeface="Cambria" pitchFamily="34" charset="-122"/>
                <a:cs typeface="Cambria" pitchFamily="34" charset="-120"/>
              </a:rPr>
              <a:t>Confusion Matrices — Test Set (1,500 samples)</a:t>
            </a:r>
            <a:endParaRPr lang="en-US" sz="2600" dirty="0"/>
          </a:p>
        </p:txBody>
      </p:sp>
      <p:pic>
        <p:nvPicPr>
          <p:cNvPr id="5" name="Image 0" descr="/home/claude/confusion.png">    </p:cNvPr>
          <p:cNvPicPr>
            <a:picLocks noChangeAspect="1"/>
          </p:cNvPicPr>
          <p:nvPr/>
        </p:nvPicPr>
        <p:blipFill>
          <a:blip r:embed="rId1"/>
          <a:stretch>
            <a:fillRect/>
          </a:stretch>
        </p:blipFill>
        <p:spPr>
          <a:xfrm>
            <a:off x="807837" y="1051560"/>
            <a:ext cx="7528326" cy="3017520"/>
          </a:xfrm>
          <a:prstGeom prst="rect">
            <a:avLst/>
          </a:prstGeom>
        </p:spPr>
      </p:pic>
      <p:sp>
        <p:nvSpPr>
          <p:cNvPr id="6" name="Shape 3"/>
          <p:cNvSpPr/>
          <p:nvPr/>
        </p:nvSpPr>
        <p:spPr>
          <a:xfrm>
            <a:off x="365760" y="4206240"/>
            <a:ext cx="3931920" cy="731520"/>
          </a:xfrm>
          <a:prstGeom prst="roundRect">
            <a:avLst>
              <a:gd name="adj" fmla="val 10000"/>
            </a:avLst>
          </a:prstGeom>
          <a:solidFill>
            <a:srgbClr val="FFF8EC"/>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7" name="Text 4"/>
          <p:cNvSpPr/>
          <p:nvPr/>
        </p:nvSpPr>
        <p:spPr>
          <a:xfrm>
            <a:off x="548640" y="4297680"/>
            <a:ext cx="3657600" cy="54864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AGDF+CE: </a:t>
            </a:r>
            <a:pPr indent="0" marL="0">
              <a:buNone/>
            </a:pPr>
            <a:r>
              <a:rPr lang="en-US" sz="1100" dirty="0">
                <a:solidFill>
                  <a:srgbClr val="1E293B"/>
                </a:solidFill>
                <a:latin typeface="Calibri" pitchFamily="34" charset="0"/>
                <a:ea typeface="Calibri" pitchFamily="34" charset="-122"/>
                <a:cs typeface="Calibri" pitchFamily="34" charset="-120"/>
              </a:rPr>
              <a:t>Recall(Fake) = 591/754 ≈ 78.4%  |  FP on Real = 315/746</a:t>
            </a:r>
            <a:endParaRPr lang="en-US" sz="1100" dirty="0"/>
          </a:p>
        </p:txBody>
      </p:sp>
      <p:sp>
        <p:nvSpPr>
          <p:cNvPr id="8" name="Shape 5"/>
          <p:cNvSpPr/>
          <p:nvPr/>
        </p:nvSpPr>
        <p:spPr>
          <a:xfrm>
            <a:off x="4480560" y="4206240"/>
            <a:ext cx="4297680" cy="731520"/>
          </a:xfrm>
          <a:prstGeom prst="roundRect">
            <a:avLst>
              <a:gd name="adj" fmla="val 10000"/>
            </a:avLst>
          </a:prstGeom>
          <a:solidFill>
            <a:srgbClr val="FFF8EC"/>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9" name="Text 6"/>
          <p:cNvSpPr/>
          <p:nvPr/>
        </p:nvSpPr>
        <p:spPr>
          <a:xfrm>
            <a:off x="4663440" y="4297680"/>
            <a:ext cx="3977640" cy="54864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AGDF+Focal: </a:t>
            </a:r>
            <a:pPr indent="0" marL="0">
              <a:buNone/>
            </a:pPr>
            <a:r>
              <a:rPr lang="en-US" sz="1100" dirty="0">
                <a:solidFill>
                  <a:srgbClr val="1E293B"/>
                </a:solidFill>
                <a:latin typeface="Calibri" pitchFamily="34" charset="0"/>
                <a:ea typeface="Calibri" pitchFamily="34" charset="-122"/>
                <a:cs typeface="Calibri" pitchFamily="34" charset="-120"/>
              </a:rPr>
              <a:t>Recall(Fake) = 592/754 ≈ 78.5%  |  FP on Real = 319/746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164592"/>
            <a:ext cx="1920240" cy="256032"/>
          </a:xfrm>
          <a:prstGeom prst="roundRect">
            <a:avLst>
              <a:gd name="adj" fmla="val 50000"/>
            </a:avLst>
          </a:prstGeom>
          <a:solidFill>
            <a:srgbClr val="0A7EA4"/>
          </a:solidFill>
          <a:ln w="12700">
            <a:solidFill>
              <a:srgbClr val="0A7EA4"/>
            </a:solidFill>
            <a:prstDash val="solid"/>
          </a:ln>
        </p:spPr>
      </p:sp>
      <p:sp>
        <p:nvSpPr>
          <p:cNvPr id="3" name="Text 1"/>
          <p:cNvSpPr/>
          <p:nvPr/>
        </p:nvSpPr>
        <p:spPr>
          <a:xfrm>
            <a:off x="457200" y="164592"/>
            <a:ext cx="1920240" cy="256032"/>
          </a:xfrm>
          <a:prstGeom prst="rect">
            <a:avLst/>
          </a:prstGeom>
          <a:noFill/>
          <a:ln/>
        </p:spPr>
        <p:txBody>
          <a:bodyPr wrap="square" lIns="0" tIns="0" rIns="0" bIns="0" rtlCol="0" anchor="ctr"/>
          <a:lstStyle/>
          <a:p>
            <a:pPr algn="ctr" indent="0" marL="0">
              <a:buNone/>
            </a:pPr>
            <a:r>
              <a:rPr lang="en-US" sz="900" b="1" dirty="0">
                <a:solidFill>
                  <a:srgbClr val="FFFFFF"/>
                </a:solidFill>
              </a:rPr>
              <a:t>RESULTS</a:t>
            </a:r>
            <a:endParaRPr lang="en-US" sz="900" dirty="0"/>
          </a:p>
        </p:txBody>
      </p:sp>
      <p:sp>
        <p:nvSpPr>
          <p:cNvPr id="4" name="Text 2"/>
          <p:cNvSpPr/>
          <p:nvPr/>
        </p:nvSpPr>
        <p:spPr>
          <a:xfrm>
            <a:off x="457200" y="475488"/>
            <a:ext cx="8229600" cy="475488"/>
          </a:xfrm>
          <a:prstGeom prst="rect">
            <a:avLst/>
          </a:prstGeom>
          <a:noFill/>
          <a:ln/>
        </p:spPr>
        <p:txBody>
          <a:bodyPr wrap="square" rtlCol="0" anchor="ctr"/>
          <a:lstStyle/>
          <a:p>
            <a:pPr indent="0" marL="0">
              <a:buNone/>
            </a:pPr>
            <a:r>
              <a:rPr lang="en-US" sz="2600" b="1" dirty="0">
                <a:solidFill>
                  <a:srgbClr val="0D1B4E"/>
                </a:solidFill>
                <a:latin typeface="Cambria" pitchFamily="34" charset="0"/>
                <a:ea typeface="Cambria" pitchFamily="34" charset="-122"/>
                <a:cs typeface="Cambria" pitchFamily="34" charset="-120"/>
              </a:rPr>
              <a:t>Quantitative Results</a:t>
            </a:r>
            <a:endParaRPr lang="en-US" sz="2600" dirty="0"/>
          </a:p>
        </p:txBody>
      </p:sp>
      <p:sp>
        <p:nvSpPr>
          <p:cNvPr id="5" name="Shape 3"/>
          <p:cNvSpPr/>
          <p:nvPr/>
        </p:nvSpPr>
        <p:spPr>
          <a:xfrm>
            <a:off x="457200" y="1051560"/>
            <a:ext cx="1920240" cy="1371600"/>
          </a:xfrm>
          <a:prstGeom prst="roundRect">
            <a:avLst>
              <a:gd name="adj" fmla="val 5333"/>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6" name="Text 4"/>
          <p:cNvSpPr/>
          <p:nvPr/>
        </p:nvSpPr>
        <p:spPr>
          <a:xfrm>
            <a:off x="457200" y="1170432"/>
            <a:ext cx="1920240" cy="658368"/>
          </a:xfrm>
          <a:prstGeom prst="rect">
            <a:avLst/>
          </a:prstGeom>
          <a:noFill/>
          <a:ln/>
        </p:spPr>
        <p:txBody>
          <a:bodyPr wrap="square" rtlCol="0" anchor="ctr"/>
          <a:lstStyle/>
          <a:p>
            <a:pPr algn="ctr" indent="0" marL="0">
              <a:buNone/>
            </a:pPr>
            <a:r>
              <a:rPr lang="en-US" sz="3200" b="1" dirty="0">
                <a:solidFill>
                  <a:srgbClr val="E53E3E"/>
                </a:solidFill>
                <a:latin typeface="Cambria" pitchFamily="34" charset="0"/>
                <a:ea typeface="Cambria" pitchFamily="34" charset="-122"/>
                <a:cs typeface="Cambria" pitchFamily="34" charset="-120"/>
              </a:rPr>
              <a:t>63.3%</a:t>
            </a:r>
            <a:endParaRPr lang="en-US" sz="3200" dirty="0"/>
          </a:p>
        </p:txBody>
      </p:sp>
      <p:sp>
        <p:nvSpPr>
          <p:cNvPr id="7" name="Text 5"/>
          <p:cNvSpPr/>
          <p:nvPr/>
        </p:nvSpPr>
        <p:spPr>
          <a:xfrm>
            <a:off x="457200" y="1810512"/>
            <a:ext cx="1920240" cy="256032"/>
          </a:xfrm>
          <a:prstGeom prst="rect">
            <a:avLst/>
          </a:prstGeom>
          <a:noFill/>
          <a:ln/>
        </p:spPr>
        <p:txBody>
          <a:bodyPr wrap="square" rtlCol="0" anchor="ctr"/>
          <a:lstStyle/>
          <a:p>
            <a:pPr algn="ctr" indent="0" marL="0">
              <a:buNone/>
            </a:pPr>
            <a:r>
              <a:rPr lang="en-US" sz="1000" b="1" dirty="0">
                <a:solidFill>
                  <a:srgbClr val="0D1B4E"/>
                </a:solidFill>
                <a:latin typeface="Calibri" pitchFamily="34" charset="0"/>
                <a:ea typeface="Calibri" pitchFamily="34" charset="-122"/>
                <a:cs typeface="Calibri" pitchFamily="34" charset="-120"/>
              </a:rPr>
              <a:t>Baseline Acc.</a:t>
            </a:r>
            <a:endParaRPr lang="en-US" sz="1000" dirty="0"/>
          </a:p>
        </p:txBody>
      </p:sp>
      <p:sp>
        <p:nvSpPr>
          <p:cNvPr id="8" name="Text 6"/>
          <p:cNvSpPr/>
          <p:nvPr/>
        </p:nvSpPr>
        <p:spPr>
          <a:xfrm>
            <a:off x="457200" y="2048256"/>
            <a:ext cx="1920240" cy="256032"/>
          </a:xfrm>
          <a:prstGeom prst="rect">
            <a:avLst/>
          </a:prstGeom>
          <a:noFill/>
          <a:ln/>
        </p:spPr>
        <p:txBody>
          <a:bodyPr wrap="square"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Static 50/50 avg</a:t>
            </a:r>
            <a:endParaRPr lang="en-US" sz="900" dirty="0"/>
          </a:p>
        </p:txBody>
      </p:sp>
      <p:sp>
        <p:nvSpPr>
          <p:cNvPr id="9" name="Shape 7"/>
          <p:cNvSpPr/>
          <p:nvPr/>
        </p:nvSpPr>
        <p:spPr>
          <a:xfrm>
            <a:off x="2560320" y="1051560"/>
            <a:ext cx="1920240" cy="1371600"/>
          </a:xfrm>
          <a:prstGeom prst="roundRect">
            <a:avLst>
              <a:gd name="adj" fmla="val 5333"/>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10" name="Text 8"/>
          <p:cNvSpPr/>
          <p:nvPr/>
        </p:nvSpPr>
        <p:spPr>
          <a:xfrm>
            <a:off x="2560320" y="1170432"/>
            <a:ext cx="1920240" cy="658368"/>
          </a:xfrm>
          <a:prstGeom prst="rect">
            <a:avLst/>
          </a:prstGeom>
          <a:noFill/>
          <a:ln/>
        </p:spPr>
        <p:txBody>
          <a:bodyPr wrap="square" rtlCol="0" anchor="ctr"/>
          <a:lstStyle/>
          <a:p>
            <a:pPr algn="ctr" indent="0" marL="0">
              <a:buNone/>
            </a:pPr>
            <a:r>
              <a:rPr lang="en-US" sz="3200" b="1" dirty="0">
                <a:solidFill>
                  <a:srgbClr val="0A7EA4"/>
                </a:solidFill>
                <a:latin typeface="Cambria" pitchFamily="34" charset="0"/>
                <a:ea typeface="Cambria" pitchFamily="34" charset="-122"/>
                <a:cs typeface="Cambria" pitchFamily="34" charset="-120"/>
              </a:rPr>
              <a:t>68.1%</a:t>
            </a:r>
            <a:endParaRPr lang="en-US" sz="3200" dirty="0"/>
          </a:p>
        </p:txBody>
      </p:sp>
      <p:sp>
        <p:nvSpPr>
          <p:cNvPr id="11" name="Text 9"/>
          <p:cNvSpPr/>
          <p:nvPr/>
        </p:nvSpPr>
        <p:spPr>
          <a:xfrm>
            <a:off x="2560320" y="1810512"/>
            <a:ext cx="1920240" cy="256032"/>
          </a:xfrm>
          <a:prstGeom prst="rect">
            <a:avLst/>
          </a:prstGeom>
          <a:noFill/>
          <a:ln/>
        </p:spPr>
        <p:txBody>
          <a:bodyPr wrap="square" rtlCol="0" anchor="ctr"/>
          <a:lstStyle/>
          <a:p>
            <a:pPr algn="ctr" indent="0" marL="0">
              <a:buNone/>
            </a:pPr>
            <a:r>
              <a:rPr lang="en-US" sz="1000" b="1" dirty="0">
                <a:solidFill>
                  <a:srgbClr val="0D1B4E"/>
                </a:solidFill>
                <a:latin typeface="Calibri" pitchFamily="34" charset="0"/>
                <a:ea typeface="Calibri" pitchFamily="34" charset="-122"/>
                <a:cs typeface="Calibri" pitchFamily="34" charset="-120"/>
              </a:rPr>
              <a:t>AGDF+CE Acc.</a:t>
            </a:r>
            <a:endParaRPr lang="en-US" sz="1000" dirty="0"/>
          </a:p>
        </p:txBody>
      </p:sp>
      <p:sp>
        <p:nvSpPr>
          <p:cNvPr id="12" name="Text 10"/>
          <p:cNvSpPr/>
          <p:nvPr/>
        </p:nvSpPr>
        <p:spPr>
          <a:xfrm>
            <a:off x="2560320" y="2048256"/>
            <a:ext cx="1920240" cy="256032"/>
          </a:xfrm>
          <a:prstGeom prst="rect">
            <a:avLst/>
          </a:prstGeom>
          <a:noFill/>
          <a:ln/>
        </p:spPr>
        <p:txBody>
          <a:bodyPr wrap="square"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+4.8 pp gain</a:t>
            </a:r>
            <a:endParaRPr lang="en-US" sz="900" dirty="0"/>
          </a:p>
        </p:txBody>
      </p:sp>
      <p:sp>
        <p:nvSpPr>
          <p:cNvPr id="13" name="Shape 11"/>
          <p:cNvSpPr/>
          <p:nvPr/>
        </p:nvSpPr>
        <p:spPr>
          <a:xfrm>
            <a:off x="4663440" y="1051560"/>
            <a:ext cx="1920240" cy="1371600"/>
          </a:xfrm>
          <a:prstGeom prst="roundRect">
            <a:avLst>
              <a:gd name="adj" fmla="val 5333"/>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14" name="Text 12"/>
          <p:cNvSpPr/>
          <p:nvPr/>
        </p:nvSpPr>
        <p:spPr>
          <a:xfrm>
            <a:off x="4663440" y="1170432"/>
            <a:ext cx="1920240" cy="658368"/>
          </a:xfrm>
          <a:prstGeom prst="rect">
            <a:avLst/>
          </a:prstGeom>
          <a:noFill/>
          <a:ln/>
        </p:spPr>
        <p:txBody>
          <a:bodyPr wrap="square" rtlCol="0" anchor="ctr"/>
          <a:lstStyle/>
          <a:p>
            <a:pPr algn="ctr" indent="0" marL="0">
              <a:buNone/>
            </a:pPr>
            <a:r>
              <a:rPr lang="en-US" sz="3200" b="1" dirty="0">
                <a:solidFill>
                  <a:srgbClr val="0A7EA4"/>
                </a:solidFill>
                <a:latin typeface="Cambria" pitchFamily="34" charset="0"/>
                <a:ea typeface="Cambria" pitchFamily="34" charset="-122"/>
                <a:cs typeface="Cambria" pitchFamily="34" charset="-120"/>
              </a:rPr>
              <a:t>0.784</a:t>
            </a:r>
            <a:endParaRPr lang="en-US" sz="3200" dirty="0"/>
          </a:p>
        </p:txBody>
      </p:sp>
      <p:sp>
        <p:nvSpPr>
          <p:cNvPr id="15" name="Text 13"/>
          <p:cNvSpPr/>
          <p:nvPr/>
        </p:nvSpPr>
        <p:spPr>
          <a:xfrm>
            <a:off x="4663440" y="1810512"/>
            <a:ext cx="1920240" cy="256032"/>
          </a:xfrm>
          <a:prstGeom prst="rect">
            <a:avLst/>
          </a:prstGeom>
          <a:noFill/>
          <a:ln/>
        </p:spPr>
        <p:txBody>
          <a:bodyPr wrap="square" rtlCol="0" anchor="ctr"/>
          <a:lstStyle/>
          <a:p>
            <a:pPr algn="ctr" indent="0" marL="0">
              <a:buNone/>
            </a:pPr>
            <a:r>
              <a:rPr lang="en-US" sz="1000" b="1" dirty="0">
                <a:solidFill>
                  <a:srgbClr val="0D1B4E"/>
                </a:solidFill>
                <a:latin typeface="Calibri" pitchFamily="34" charset="0"/>
                <a:ea typeface="Calibri" pitchFamily="34" charset="-122"/>
                <a:cs typeface="Calibri" pitchFamily="34" charset="-120"/>
              </a:rPr>
              <a:t>AGDF+CE AUC</a:t>
            </a:r>
            <a:endParaRPr lang="en-US" sz="1000" dirty="0"/>
          </a:p>
        </p:txBody>
      </p:sp>
      <p:sp>
        <p:nvSpPr>
          <p:cNvPr id="16" name="Text 14"/>
          <p:cNvSpPr/>
          <p:nvPr/>
        </p:nvSpPr>
        <p:spPr>
          <a:xfrm>
            <a:off x="4663440" y="2048256"/>
            <a:ext cx="1920240" cy="256032"/>
          </a:xfrm>
          <a:prstGeom prst="rect">
            <a:avLst/>
          </a:prstGeom>
          <a:noFill/>
          <a:ln/>
        </p:spPr>
        <p:txBody>
          <a:bodyPr wrap="square"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vs baseline 0.763</a:t>
            </a:r>
            <a:endParaRPr lang="en-US" sz="900" dirty="0"/>
          </a:p>
        </p:txBody>
      </p:sp>
      <p:sp>
        <p:nvSpPr>
          <p:cNvPr id="17" name="Shape 15"/>
          <p:cNvSpPr/>
          <p:nvPr/>
        </p:nvSpPr>
        <p:spPr>
          <a:xfrm>
            <a:off x="6766560" y="1051560"/>
            <a:ext cx="1920240" cy="1371600"/>
          </a:xfrm>
          <a:prstGeom prst="roundRect">
            <a:avLst>
              <a:gd name="adj" fmla="val 5333"/>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18" name="Text 16"/>
          <p:cNvSpPr/>
          <p:nvPr/>
        </p:nvSpPr>
        <p:spPr>
          <a:xfrm>
            <a:off x="6766560" y="1170432"/>
            <a:ext cx="1920240" cy="658368"/>
          </a:xfrm>
          <a:prstGeom prst="rect">
            <a:avLst/>
          </a:prstGeom>
          <a:noFill/>
          <a:ln/>
        </p:spPr>
        <p:txBody>
          <a:bodyPr wrap="square" rtlCol="0" anchor="ctr"/>
          <a:lstStyle/>
          <a:p>
            <a:pPr algn="ctr" indent="0" marL="0">
              <a:buNone/>
            </a:pPr>
            <a:r>
              <a:rPr lang="en-US" sz="3200" b="1" dirty="0">
                <a:solidFill>
                  <a:srgbClr val="6D28D9"/>
                </a:solidFill>
                <a:latin typeface="Cambria" pitchFamily="34" charset="0"/>
                <a:ea typeface="Cambria" pitchFamily="34" charset="-122"/>
                <a:cs typeface="Cambria" pitchFamily="34" charset="-120"/>
              </a:rPr>
              <a:t>18.8K</a:t>
            </a:r>
            <a:endParaRPr lang="en-US" sz="3200" dirty="0"/>
          </a:p>
        </p:txBody>
      </p:sp>
      <p:sp>
        <p:nvSpPr>
          <p:cNvPr id="19" name="Text 17"/>
          <p:cNvSpPr/>
          <p:nvPr/>
        </p:nvSpPr>
        <p:spPr>
          <a:xfrm>
            <a:off x="6766560" y="1810512"/>
            <a:ext cx="1920240" cy="256032"/>
          </a:xfrm>
          <a:prstGeom prst="rect">
            <a:avLst/>
          </a:prstGeom>
          <a:noFill/>
          <a:ln/>
        </p:spPr>
        <p:txBody>
          <a:bodyPr wrap="square" rtlCol="0" anchor="ctr"/>
          <a:lstStyle/>
          <a:p>
            <a:pPr algn="ctr" indent="0" marL="0">
              <a:buNone/>
            </a:pPr>
            <a:r>
              <a:rPr lang="en-US" sz="1000" b="1" dirty="0">
                <a:solidFill>
                  <a:srgbClr val="0D1B4E"/>
                </a:solidFill>
                <a:latin typeface="Calibri" pitchFamily="34" charset="0"/>
                <a:ea typeface="Calibri" pitchFamily="34" charset="-122"/>
                <a:cs typeface="Calibri" pitchFamily="34" charset="-120"/>
              </a:rPr>
              <a:t>Gate Params</a:t>
            </a:r>
            <a:endParaRPr lang="en-US" sz="1000" dirty="0"/>
          </a:p>
        </p:txBody>
      </p:sp>
      <p:sp>
        <p:nvSpPr>
          <p:cNvPr id="20" name="Text 18"/>
          <p:cNvSpPr/>
          <p:nvPr/>
        </p:nvSpPr>
        <p:spPr>
          <a:xfrm>
            <a:off x="6766560" y="2048256"/>
            <a:ext cx="1920240" cy="256032"/>
          </a:xfrm>
          <a:prstGeom prst="rect">
            <a:avLst/>
          </a:prstGeom>
          <a:noFill/>
          <a:ln/>
        </p:spPr>
        <p:txBody>
          <a:bodyPr wrap="square"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vs millions in backbone</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606040"/>
          <a:ext cx="8229600" cy="1645920"/>
        </p:xfrm>
        <a:graphic>
          <a:graphicData uri="http://schemas.openxmlformats.org/drawingml/2006/table">
            <a:tbl>
              <a:tblPr/>
              <a:tblGrid>
                <a:gridCol w="3200400"/>
                <a:gridCol w="1280160"/>
                <a:gridCol w="1280160"/>
                <a:gridCol w="1280160"/>
                <a:gridCol w="1097280"/>
              </a:tblGrid>
              <a:tr h="39319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0D1B4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0D1B4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F1 (Fake)</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0D1B4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AUC-ROC</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0D1B4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Δ Acc.</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0D1B4E"/>
                    </a:solidFill>
                  </a:tcPr>
                </a:tc>
              </a:tr>
              <a:tr h="393192">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GenConViT Baseline (Static Avg.)</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200" dirty="0">
                          <a:solidFill>
                            <a:srgbClr val="E53E3E"/>
                          </a:solidFill>
                          <a:latin typeface="Calibri" pitchFamily="34" charset="0"/>
                          <a:ea typeface="Calibri" pitchFamily="34" charset="-122"/>
                          <a:cs typeface="Calibri" pitchFamily="34" charset="-120"/>
                        </a:rPr>
                        <a:t>63.3%</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0.710</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0.763</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AGDF + CE (Ours)</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200" b="1" dirty="0">
                          <a:solidFill>
                            <a:srgbClr val="0A7EA4"/>
                          </a:solidFill>
                          <a:latin typeface="Calibri" pitchFamily="34" charset="0"/>
                          <a:ea typeface="Calibri" pitchFamily="34" charset="-122"/>
                          <a:cs typeface="Calibri" pitchFamily="34" charset="-120"/>
                        </a:rPr>
                        <a:t>68.1%</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0.712</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0.784</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200" b="1" dirty="0">
                          <a:solidFill>
                            <a:srgbClr val="0A7EA4"/>
                          </a:solidFill>
                          <a:latin typeface="Calibri" pitchFamily="34" charset="0"/>
                          <a:ea typeface="Calibri" pitchFamily="34" charset="-122"/>
                          <a:cs typeface="Calibri" pitchFamily="34" charset="-120"/>
                        </a:rPr>
                        <a:t>+4.8 pp</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AGDF + Focal (γ=2.0) (Ours)</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200" b="1" dirty="0">
                          <a:solidFill>
                            <a:srgbClr val="0A7EA4"/>
                          </a:solidFill>
                          <a:latin typeface="Calibri" pitchFamily="34" charset="0"/>
                          <a:ea typeface="Calibri" pitchFamily="34" charset="-122"/>
                          <a:cs typeface="Calibri" pitchFamily="34" charset="-120"/>
                        </a:rPr>
                        <a:t>67.9%</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0.711</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0.782</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c>
                  <a:txBody>
                    <a:bodyPr/>
                    <a:lstStyle/>
                    <a:p>
                      <a:pPr indent="0" marL="0">
                        <a:buNone/>
                      </a:pPr>
                      <a:r>
                        <a:rPr lang="en-US" sz="1200" b="1" dirty="0">
                          <a:solidFill>
                            <a:srgbClr val="0A7EA4"/>
                          </a:solidFill>
                          <a:latin typeface="Calibri" pitchFamily="34" charset="0"/>
                          <a:ea typeface="Calibri" pitchFamily="34" charset="-122"/>
                          <a:cs typeface="Calibri" pitchFamily="34" charset="-120"/>
                        </a:rPr>
                        <a:t>+4.6 pp</a:t>
                      </a:r>
                      <a:endParaRPr lang="en-US" sz="1200" dirty="0">
                        <a:latin typeface="Calibri" charset="0"/>
                        <a:ea typeface="Calibri" charset="0"/>
                        <a:cs typeface="Calibri" charset="0"/>
                      </a:endParaRPr>
                    </a:p>
                  </a:txBody>
                  <a:tcPr marL="91440" marR="91440" marT="45720" marB="45720">
                    <a:lnL w="6350" cap="flat" cmpd="sng" algn="ctr">
                      <a:solidFill>
                        <a:srgbClr val="D1E8F5"/>
                      </a:solidFill>
                      <a:prstDash val="solid"/>
                      <a:round/>
                      <a:headEnd type="none" w="med" len="med"/>
                      <a:tailEnd type="none" w="med" len="med"/>
                    </a:lnL>
                    <a:lnR w="6350" cap="flat" cmpd="sng" algn="ctr">
                      <a:solidFill>
                        <a:srgbClr val="D1E8F5"/>
                      </a:solidFill>
                      <a:prstDash val="solid"/>
                      <a:round/>
                      <a:headEnd type="none" w="med" len="med"/>
                      <a:tailEnd type="none" w="med" len="med"/>
                    </a:lnR>
                    <a:lnT w="6350" cap="flat" cmpd="sng" algn="ctr">
                      <a:solidFill>
                        <a:srgbClr val="D1E8F5"/>
                      </a:solidFill>
                      <a:prstDash val="solid"/>
                      <a:round/>
                      <a:headEnd type="none" w="med" len="med"/>
                      <a:tailEnd type="none" w="med" len="med"/>
                    </a:lnT>
                    <a:lnB w="6350" cap="flat" cmpd="sng" algn="ctr">
                      <a:solidFill>
                        <a:srgbClr val="D1E8F5"/>
                      </a:solidFill>
                      <a:prstDash val="solid"/>
                      <a:round/>
                      <a:headEnd type="none" w="med" len="med"/>
                      <a:tailEnd type="none" w="med" len="med"/>
                    </a:lnB>
                    <a:solidFill>
                      <a:srgbClr val="FFFFFF"/>
                    </a:solidFill>
                  </a:tcPr>
                </a:tc>
              </a:tr>
            </a:tbl>
          </a:graphicData>
        </a:graphic>
      </p:graphicFrame>
      <p:sp>
        <p:nvSpPr>
          <p:cNvPr id="22" name="Text 19"/>
          <p:cNvSpPr/>
          <p:nvPr/>
        </p:nvSpPr>
        <p:spPr>
          <a:xfrm>
            <a:off x="457200" y="4343400"/>
            <a:ext cx="8229600" cy="365760"/>
          </a:xfrm>
          <a:prstGeom prst="rect">
            <a:avLst/>
          </a:prstGeom>
          <a:noFill/>
          <a:ln/>
        </p:spPr>
        <p:txBody>
          <a:bodyPr wrap="square"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Both AGDF variants consistently outperform the static baseline across all three metrics on 1,500 balanced test samples.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164592"/>
            <a:ext cx="1920240" cy="256032"/>
          </a:xfrm>
          <a:prstGeom prst="roundRect">
            <a:avLst>
              <a:gd name="adj" fmla="val 50000"/>
            </a:avLst>
          </a:prstGeom>
          <a:solidFill>
            <a:srgbClr val="0A7EA4"/>
          </a:solidFill>
          <a:ln w="12700">
            <a:solidFill>
              <a:srgbClr val="0A7EA4"/>
            </a:solidFill>
            <a:prstDash val="solid"/>
          </a:ln>
        </p:spPr>
      </p:sp>
      <p:sp>
        <p:nvSpPr>
          <p:cNvPr id="3" name="Text 1"/>
          <p:cNvSpPr/>
          <p:nvPr/>
        </p:nvSpPr>
        <p:spPr>
          <a:xfrm>
            <a:off x="457200" y="164592"/>
            <a:ext cx="1920240" cy="256032"/>
          </a:xfrm>
          <a:prstGeom prst="rect">
            <a:avLst/>
          </a:prstGeom>
          <a:noFill/>
          <a:ln/>
        </p:spPr>
        <p:txBody>
          <a:bodyPr wrap="square" lIns="0" tIns="0" rIns="0" bIns="0" rtlCol="0" anchor="ctr"/>
          <a:lstStyle/>
          <a:p>
            <a:pPr algn="ctr" indent="0" marL="0">
              <a:buNone/>
            </a:pPr>
            <a:r>
              <a:rPr lang="en-US" sz="900" b="1" dirty="0">
                <a:solidFill>
                  <a:srgbClr val="FFFFFF"/>
                </a:solidFill>
              </a:rPr>
              <a:t>DISCUSSION</a:t>
            </a:r>
            <a:endParaRPr lang="en-US" sz="900" dirty="0"/>
          </a:p>
        </p:txBody>
      </p:sp>
      <p:sp>
        <p:nvSpPr>
          <p:cNvPr id="4" name="Text 2"/>
          <p:cNvSpPr/>
          <p:nvPr/>
        </p:nvSpPr>
        <p:spPr>
          <a:xfrm>
            <a:off x="457200" y="475488"/>
            <a:ext cx="8229600" cy="475488"/>
          </a:xfrm>
          <a:prstGeom prst="rect">
            <a:avLst/>
          </a:prstGeom>
          <a:noFill/>
          <a:ln/>
        </p:spPr>
        <p:txBody>
          <a:bodyPr wrap="square" rtlCol="0" anchor="ctr"/>
          <a:lstStyle/>
          <a:p>
            <a:pPr indent="0" marL="0">
              <a:buNone/>
            </a:pPr>
            <a:r>
              <a:rPr lang="en-US" sz="2600" b="1" dirty="0">
                <a:solidFill>
                  <a:srgbClr val="0D1B4E"/>
                </a:solidFill>
                <a:latin typeface="Cambria" pitchFamily="34" charset="0"/>
                <a:ea typeface="Cambria" pitchFamily="34" charset="-122"/>
                <a:cs typeface="Cambria" pitchFamily="34" charset="-120"/>
              </a:rPr>
              <a:t>Gate Behavior &amp; Key Insights</a:t>
            </a:r>
            <a:endParaRPr lang="en-US" sz="2600" dirty="0"/>
          </a:p>
        </p:txBody>
      </p:sp>
      <p:sp>
        <p:nvSpPr>
          <p:cNvPr id="5" name="Shape 3"/>
          <p:cNvSpPr/>
          <p:nvPr/>
        </p:nvSpPr>
        <p:spPr>
          <a:xfrm>
            <a:off x="365760" y="1051560"/>
            <a:ext cx="4114800" cy="1645920"/>
          </a:xfrm>
          <a:prstGeom prst="roundRect">
            <a:avLst>
              <a:gd name="adj" fmla="val 4444"/>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6" name="Shape 4"/>
          <p:cNvSpPr/>
          <p:nvPr/>
        </p:nvSpPr>
        <p:spPr>
          <a:xfrm>
            <a:off x="475488" y="1161288"/>
            <a:ext cx="256032" cy="256032"/>
          </a:xfrm>
          <a:prstGeom prst="ellipse">
            <a:avLst/>
          </a:prstGeom>
          <a:solidFill>
            <a:srgbClr val="0A7EA4"/>
          </a:solidFill>
          <a:ln w="12700">
            <a:solidFill>
              <a:srgbClr val="0A7EA4"/>
            </a:solidFill>
            <a:prstDash val="solid"/>
          </a:ln>
        </p:spPr>
      </p:sp>
      <p:sp>
        <p:nvSpPr>
          <p:cNvPr id="7" name="Text 5"/>
          <p:cNvSpPr/>
          <p:nvPr/>
        </p:nvSpPr>
        <p:spPr>
          <a:xfrm>
            <a:off x="822960" y="1143000"/>
            <a:ext cx="3520440" cy="320040"/>
          </a:xfrm>
          <a:prstGeom prst="rect">
            <a:avLst/>
          </a:prstGeom>
          <a:noFill/>
          <a:ln/>
        </p:spPr>
        <p:txBody>
          <a:bodyPr wrap="square" rtlCol="0" anchor="ctr"/>
          <a:lstStyle/>
          <a:p>
            <a:pPr indent="0" marL="0">
              <a:buNone/>
            </a:pPr>
            <a:r>
              <a:rPr lang="en-US" sz="1200" b="1" dirty="0">
                <a:solidFill>
                  <a:srgbClr val="0A7EA4"/>
                </a:solidFill>
                <a:latin typeface="Calibri" pitchFamily="34" charset="0"/>
                <a:ea typeface="Calibri" pitchFamily="34" charset="-122"/>
                <a:cs typeface="Calibri" pitchFamily="34" charset="-120"/>
              </a:rPr>
              <a:t>Gate Weight Behavior</a:t>
            </a:r>
            <a:endParaRPr lang="en-US" sz="1200" dirty="0"/>
          </a:p>
        </p:txBody>
      </p:sp>
      <p:sp>
        <p:nvSpPr>
          <p:cNvPr id="8" name="Text 6"/>
          <p:cNvSpPr/>
          <p:nvPr/>
        </p:nvSpPr>
        <p:spPr>
          <a:xfrm>
            <a:off x="502920" y="1508760"/>
            <a:ext cx="3840480" cy="1097280"/>
          </a:xfrm>
          <a:prstGeom prst="rect">
            <a:avLst/>
          </a:prstGeom>
          <a:noFill/>
          <a:ln/>
        </p:spPr>
        <p:txBody>
          <a:bodyPr wrap="square" rtlCol="0" anchor="t"/>
          <a:lstStyle/>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Deviates from static 0.5/0.5 in input-dependent manner</a:t>
            </a:r>
            <a:endParaRPr lang="en-US" sz="1050" dirty="0"/>
          </a:p>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Higher weight to ED branch when branches disagree</a:t>
            </a:r>
            <a:endParaRPr lang="en-US" sz="1050" dirty="0"/>
          </a:p>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Equal weights when both branches are confident</a:t>
            </a:r>
            <a:endParaRPr lang="en-US" sz="1050" dirty="0"/>
          </a:p>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Emergent — no explicit branch-agreement supervision</a:t>
            </a:r>
            <a:endParaRPr lang="en-US" sz="1050" dirty="0"/>
          </a:p>
        </p:txBody>
      </p:sp>
      <p:sp>
        <p:nvSpPr>
          <p:cNvPr id="9" name="Shape 7"/>
          <p:cNvSpPr/>
          <p:nvPr/>
        </p:nvSpPr>
        <p:spPr>
          <a:xfrm>
            <a:off x="4617720" y="1051560"/>
            <a:ext cx="4114800" cy="1645920"/>
          </a:xfrm>
          <a:prstGeom prst="roundRect">
            <a:avLst>
              <a:gd name="adj" fmla="val 4444"/>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10" name="Shape 8"/>
          <p:cNvSpPr/>
          <p:nvPr/>
        </p:nvSpPr>
        <p:spPr>
          <a:xfrm>
            <a:off x="4727448" y="1161288"/>
            <a:ext cx="256032" cy="256032"/>
          </a:xfrm>
          <a:prstGeom prst="ellipse">
            <a:avLst/>
          </a:prstGeom>
          <a:solidFill>
            <a:srgbClr val="7C3AED"/>
          </a:solidFill>
          <a:ln w="12700">
            <a:solidFill>
              <a:srgbClr val="7C3AED"/>
            </a:solidFill>
            <a:prstDash val="solid"/>
          </a:ln>
        </p:spPr>
      </p:sp>
      <p:sp>
        <p:nvSpPr>
          <p:cNvPr id="11" name="Text 9"/>
          <p:cNvSpPr/>
          <p:nvPr/>
        </p:nvSpPr>
        <p:spPr>
          <a:xfrm>
            <a:off x="5074920" y="1143000"/>
            <a:ext cx="3520440" cy="320040"/>
          </a:xfrm>
          <a:prstGeom prst="rect">
            <a:avLst/>
          </a:prstGeom>
          <a:noFill/>
          <a:ln/>
        </p:spPr>
        <p:txBody>
          <a:bodyPr wrap="square"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Asymmetric Error Pattern</a:t>
            </a:r>
            <a:endParaRPr lang="en-US" sz="1200" dirty="0"/>
          </a:p>
        </p:txBody>
      </p:sp>
      <p:sp>
        <p:nvSpPr>
          <p:cNvPr id="12" name="Text 10"/>
          <p:cNvSpPr/>
          <p:nvPr/>
        </p:nvSpPr>
        <p:spPr>
          <a:xfrm>
            <a:off x="4754880" y="1508760"/>
            <a:ext cx="3840480" cy="1097280"/>
          </a:xfrm>
          <a:prstGeom prst="rect">
            <a:avLst/>
          </a:prstGeom>
          <a:noFill/>
          <a:ln/>
        </p:spPr>
        <p:txBody>
          <a:bodyPr wrap="square" rtlCol="0" anchor="t"/>
          <a:lstStyle/>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Strong fake recall (~78.5%) at cost of real false positives</a:t>
            </a:r>
            <a:endParaRPr lang="en-US" sz="1050" dirty="0"/>
          </a:p>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Inherits GenConViT backbone bias toward 'fake' on uncertain inputs</a:t>
            </a:r>
            <a:endParaRPr lang="en-US" sz="1050" dirty="0"/>
          </a:p>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Fix: class-rebalanced gate training loss (future work)</a:t>
            </a:r>
            <a:endParaRPr lang="en-US" sz="1050" dirty="0"/>
          </a:p>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Or: per-class threshold sweep at inference</a:t>
            </a:r>
            <a:endParaRPr lang="en-US" sz="1050" dirty="0"/>
          </a:p>
        </p:txBody>
      </p:sp>
      <p:sp>
        <p:nvSpPr>
          <p:cNvPr id="13" name="Shape 11"/>
          <p:cNvSpPr/>
          <p:nvPr/>
        </p:nvSpPr>
        <p:spPr>
          <a:xfrm>
            <a:off x="365760" y="2834640"/>
            <a:ext cx="4114800" cy="1645920"/>
          </a:xfrm>
          <a:prstGeom prst="roundRect">
            <a:avLst>
              <a:gd name="adj" fmla="val 4444"/>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14" name="Shape 12"/>
          <p:cNvSpPr/>
          <p:nvPr/>
        </p:nvSpPr>
        <p:spPr>
          <a:xfrm>
            <a:off x="475488" y="2944368"/>
            <a:ext cx="256032" cy="256032"/>
          </a:xfrm>
          <a:prstGeom prst="ellipse">
            <a:avLst/>
          </a:prstGeom>
          <a:solidFill>
            <a:srgbClr val="059669"/>
          </a:solidFill>
          <a:ln w="12700">
            <a:solidFill>
              <a:srgbClr val="059669"/>
            </a:solidFill>
            <a:prstDash val="solid"/>
          </a:ln>
        </p:spPr>
      </p:sp>
      <p:sp>
        <p:nvSpPr>
          <p:cNvPr id="15" name="Text 13"/>
          <p:cNvSpPr/>
          <p:nvPr/>
        </p:nvSpPr>
        <p:spPr>
          <a:xfrm>
            <a:off x="822960" y="2926080"/>
            <a:ext cx="3520440" cy="320040"/>
          </a:xfrm>
          <a:prstGeom prst="rect">
            <a:avLst/>
          </a:prstGeom>
          <a:noFill/>
          <a:ln/>
        </p:spPr>
        <p:txBody>
          <a:bodyPr wrap="square"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Domain Transfer (AGFN → AGDF)</a:t>
            </a:r>
            <a:endParaRPr lang="en-US" sz="1200" dirty="0"/>
          </a:p>
        </p:txBody>
      </p:sp>
      <p:sp>
        <p:nvSpPr>
          <p:cNvPr id="16" name="Text 14"/>
          <p:cNvSpPr/>
          <p:nvPr/>
        </p:nvSpPr>
        <p:spPr>
          <a:xfrm>
            <a:off x="502920" y="3291840"/>
            <a:ext cx="3840480" cy="1097280"/>
          </a:xfrm>
          <a:prstGeom prst="rect">
            <a:avLst/>
          </a:prstGeom>
          <a:noFill/>
          <a:ln/>
        </p:spPr>
        <p:txBody>
          <a:bodyPr wrap="square" rtlCol="0" anchor="t"/>
          <a:lstStyle/>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Gated fusion is modality-agnostic</a:t>
            </a:r>
            <a:endParaRPr lang="en-US" sz="1050" dirty="0"/>
          </a:p>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Sentiment (audio/text/video) ↔ Deepfake (ED/VAE branches)</a:t>
            </a:r>
            <a:endParaRPr lang="en-US" sz="1050" dirty="0"/>
          </a:p>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Core requirement: two signals of input-dependent reliability</a:t>
            </a:r>
            <a:endParaRPr lang="en-US" sz="1050" dirty="0"/>
          </a:p>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Opens avenues for other dual-model detection systems</a:t>
            </a:r>
            <a:endParaRPr lang="en-US" sz="1050" dirty="0"/>
          </a:p>
        </p:txBody>
      </p:sp>
      <p:sp>
        <p:nvSpPr>
          <p:cNvPr id="17" name="Shape 15"/>
          <p:cNvSpPr/>
          <p:nvPr/>
        </p:nvSpPr>
        <p:spPr>
          <a:xfrm>
            <a:off x="4617720" y="2834640"/>
            <a:ext cx="4114800" cy="1645920"/>
          </a:xfrm>
          <a:prstGeom prst="roundRect">
            <a:avLst>
              <a:gd name="adj" fmla="val 4444"/>
            </a:avLst>
          </a:prstGeom>
          <a:solidFill>
            <a:srgbClr val="FFFFFF"/>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18" name="Shape 16"/>
          <p:cNvSpPr/>
          <p:nvPr/>
        </p:nvSpPr>
        <p:spPr>
          <a:xfrm>
            <a:off x="4727448" y="2944368"/>
            <a:ext cx="256032" cy="256032"/>
          </a:xfrm>
          <a:prstGeom prst="ellipse">
            <a:avLst/>
          </a:prstGeom>
          <a:solidFill>
            <a:srgbClr val="F59E0B"/>
          </a:solidFill>
          <a:ln w="12700">
            <a:solidFill>
              <a:srgbClr val="F59E0B"/>
            </a:solidFill>
            <a:prstDash val="solid"/>
          </a:ln>
        </p:spPr>
      </p:sp>
      <p:sp>
        <p:nvSpPr>
          <p:cNvPr id="19" name="Text 17"/>
          <p:cNvSpPr/>
          <p:nvPr/>
        </p:nvSpPr>
        <p:spPr>
          <a:xfrm>
            <a:off x="5074920" y="2926080"/>
            <a:ext cx="3520440" cy="320040"/>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Parameter Efficiency</a:t>
            </a:r>
            <a:endParaRPr lang="en-US" sz="1200" dirty="0"/>
          </a:p>
        </p:txBody>
      </p:sp>
      <p:sp>
        <p:nvSpPr>
          <p:cNvPr id="20" name="Text 18"/>
          <p:cNvSpPr/>
          <p:nvPr/>
        </p:nvSpPr>
        <p:spPr>
          <a:xfrm>
            <a:off x="4754880" y="3291840"/>
            <a:ext cx="3840480" cy="1097280"/>
          </a:xfrm>
          <a:prstGeom prst="rect">
            <a:avLst/>
          </a:prstGeom>
          <a:noFill/>
          <a:ln/>
        </p:spPr>
        <p:txBody>
          <a:bodyPr wrap="square" rtlCol="0" anchor="t"/>
          <a:lstStyle/>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~18,800 trainable params vs multi-million backbone</a:t>
            </a:r>
            <a:endParaRPr lang="en-US" sz="1050" dirty="0"/>
          </a:p>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Gate trains in minutes on cached logits</a:t>
            </a:r>
            <a:endParaRPr lang="en-US" sz="1050" dirty="0"/>
          </a:p>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Backbone inference done only once (caching phase)</a:t>
            </a:r>
            <a:endParaRPr lang="en-US" sz="1050" dirty="0"/>
          </a:p>
          <a:p>
            <a:pPr marL="342900" indent="-342900">
              <a:buSzPct val="100000"/>
              <a:buChar char="•"/>
            </a:pPr>
            <a:r>
              <a:rPr lang="en-US" sz="1050" dirty="0">
                <a:solidFill>
                  <a:srgbClr val="1E293B"/>
                </a:solidFill>
                <a:latin typeface="Calibri" pitchFamily="34" charset="0"/>
                <a:ea typeface="Calibri" pitchFamily="34" charset="-122"/>
                <a:cs typeface="Calibri" pitchFamily="34" charset="-120"/>
              </a:rPr>
              <a:t>Practical for rapid deployment on pre-trained detectors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4E"/>
        </a:solidFill>
      </p:bgPr>
    </p:bg>
    <p:spTree>
      <p:nvGrpSpPr>
        <p:cNvPr id="1" name=""/>
        <p:cNvGrpSpPr/>
        <p:nvPr/>
      </p:nvGrpSpPr>
      <p:grpSpPr>
        <a:xfrm>
          <a:off x="0" y="0"/>
          <a:ext cx="0" cy="0"/>
          <a:chOff x="0" y="0"/>
          <a:chExt cx="0" cy="0"/>
        </a:xfrm>
      </p:grpSpPr>
      <p:sp>
        <p:nvSpPr>
          <p:cNvPr id="2" name="Shape 0"/>
          <p:cNvSpPr/>
          <p:nvPr/>
        </p:nvSpPr>
        <p:spPr>
          <a:xfrm>
            <a:off x="7498080" y="-457200"/>
            <a:ext cx="2011680" cy="2011680"/>
          </a:xfrm>
          <a:prstGeom prst="ellipse">
            <a:avLst/>
          </a:prstGeom>
          <a:solidFill>
            <a:srgbClr val="112266"/>
          </a:solidFill>
          <a:ln w="12700">
            <a:solidFill>
              <a:srgbClr val="112266"/>
            </a:solidFill>
            <a:prstDash val="solid"/>
          </a:ln>
        </p:spPr>
      </p:sp>
      <p:sp>
        <p:nvSpPr>
          <p:cNvPr id="3" name="Shape 1"/>
          <p:cNvSpPr/>
          <p:nvPr/>
        </p:nvSpPr>
        <p:spPr>
          <a:xfrm>
            <a:off x="-457200" y="3840480"/>
            <a:ext cx="1645920" cy="1645920"/>
          </a:xfrm>
          <a:prstGeom prst="ellipse">
            <a:avLst/>
          </a:prstGeom>
          <a:solidFill>
            <a:srgbClr val="0A4070"/>
          </a:solidFill>
          <a:ln w="12700">
            <a:solidFill>
              <a:srgbClr val="0A4070"/>
            </a:solidFill>
            <a:prstDash val="solid"/>
          </a:ln>
        </p:spPr>
      </p:sp>
      <p:sp>
        <p:nvSpPr>
          <p:cNvPr id="4" name="Text 2"/>
          <p:cNvSpPr/>
          <p:nvPr/>
        </p:nvSpPr>
        <p:spPr>
          <a:xfrm>
            <a:off x="548640" y="274320"/>
            <a:ext cx="73152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5" name="Shape 3"/>
          <p:cNvSpPr/>
          <p:nvPr/>
        </p:nvSpPr>
        <p:spPr>
          <a:xfrm>
            <a:off x="457200" y="914400"/>
            <a:ext cx="4937760" cy="3200400"/>
          </a:xfrm>
          <a:prstGeom prst="roundRect">
            <a:avLst>
              <a:gd name="adj" fmla="val 2286"/>
            </a:avLst>
          </a:prstGeom>
          <a:solidFill>
            <a:srgbClr val="0A2A5E"/>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6" name="Text 4"/>
          <p:cNvSpPr/>
          <p:nvPr/>
        </p:nvSpPr>
        <p:spPr>
          <a:xfrm>
            <a:off x="685800" y="1051560"/>
            <a:ext cx="4480560" cy="320040"/>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What We Showed</a:t>
            </a:r>
            <a:endParaRPr lang="en-US" sz="1300" dirty="0"/>
          </a:p>
        </p:txBody>
      </p:sp>
      <p:sp>
        <p:nvSpPr>
          <p:cNvPr id="7" name="Text 5"/>
          <p:cNvSpPr/>
          <p:nvPr/>
        </p:nvSpPr>
        <p:spPr>
          <a:xfrm>
            <a:off x="685800" y="1426464"/>
            <a:ext cx="4480560" cy="2560320"/>
          </a:xfrm>
          <a:prstGeom prst="rect">
            <a:avLst/>
          </a:prstGeom>
          <a:noFill/>
          <a:ln/>
        </p:spPr>
        <p:txBody>
          <a:bodyPr wrap="square" rtlCol="0" anchor="t"/>
          <a:lstStyle/>
          <a:p>
            <a:pPr marL="342900" indent="-342900">
              <a:buSzPct val="100000"/>
              <a:buChar char="•"/>
            </a:pPr>
            <a:r>
              <a:rPr lang="en-US" sz="1150" dirty="0">
                <a:solidFill>
                  <a:srgbClr val="C9E6F5"/>
                </a:solidFill>
                <a:latin typeface="Calibri" pitchFamily="34" charset="0"/>
                <a:ea typeface="Calibri" pitchFamily="34" charset="-122"/>
                <a:cs typeface="Calibri" pitchFamily="34" charset="-120"/>
              </a:rPr>
              <a:t>AGDF replaces static 50/50 with per-sample learned weights</a:t>
            </a:r>
            <a:endParaRPr lang="en-US" sz="1150" dirty="0"/>
          </a:p>
          <a:p>
            <a:pPr marL="342900" indent="-342900">
              <a:buSzPct val="100000"/>
              <a:buChar char="•"/>
            </a:pPr>
            <a:r>
              <a:rPr lang="en-US" sz="1150" dirty="0">
                <a:solidFill>
                  <a:srgbClr val="C9E6F5"/>
                </a:solidFill>
                <a:latin typeface="Calibri" pitchFamily="34" charset="0"/>
                <a:ea typeface="Calibri" pitchFamily="34" charset="-122"/>
                <a:cs typeface="Calibri" pitchFamily="34" charset="-120"/>
              </a:rPr>
              <a:t>18.8K gate MLP trained on cached logits in minutes</a:t>
            </a:r>
            <a:endParaRPr lang="en-US" sz="1150" dirty="0"/>
          </a:p>
          <a:p>
            <a:pPr marL="342900" indent="-342900">
              <a:buSzPct val="100000"/>
              <a:buChar char="•"/>
            </a:pPr>
            <a:r>
              <a:rPr lang="en-US" sz="1150" dirty="0">
                <a:solidFill>
                  <a:srgbClr val="C9E6F5"/>
                </a:solidFill>
                <a:latin typeface="Calibri" pitchFamily="34" charset="0"/>
                <a:ea typeface="Calibri" pitchFamily="34" charset="-122"/>
                <a:cs typeface="Calibri" pitchFamily="34" charset="-120"/>
              </a:rPr>
              <a:t>+4.8 pp accuracy gain: 63.3% → 68.1% (CE variant)</a:t>
            </a:r>
            <a:endParaRPr lang="en-US" sz="1150" dirty="0"/>
          </a:p>
          <a:p>
            <a:pPr marL="342900" indent="-342900">
              <a:buSzPct val="100000"/>
              <a:buChar char="•"/>
            </a:pPr>
            <a:r>
              <a:rPr lang="en-US" sz="1150" dirty="0">
                <a:solidFill>
                  <a:srgbClr val="C9E6F5"/>
                </a:solidFill>
                <a:latin typeface="Calibri" pitchFamily="34" charset="0"/>
                <a:ea typeface="Calibri" pitchFamily="34" charset="-122"/>
                <a:cs typeface="Calibri" pitchFamily="34" charset="-120"/>
              </a:rPr>
              <a:t>AUC: 0.763 → 0.784 | F1: 0.710 → 0.712</a:t>
            </a:r>
            <a:endParaRPr lang="en-US" sz="1150" dirty="0"/>
          </a:p>
          <a:p>
            <a:pPr marL="342900" indent="-342900">
              <a:buSzPct val="100000"/>
              <a:buChar char="•"/>
            </a:pPr>
            <a:r>
              <a:rPr lang="en-US" sz="1150" dirty="0">
                <a:solidFill>
                  <a:srgbClr val="C9E6F5"/>
                </a:solidFill>
                <a:latin typeface="Calibri" pitchFamily="34" charset="0"/>
                <a:ea typeface="Calibri" pitchFamily="34" charset="-122"/>
                <a:cs typeface="Calibri" pitchFamily="34" charset="-120"/>
              </a:rPr>
              <a:t>CE and Focal both consistently beat baseline at every epoch</a:t>
            </a:r>
            <a:endParaRPr lang="en-US" sz="1150" dirty="0"/>
          </a:p>
          <a:p>
            <a:pPr marL="342900" indent="-342900">
              <a:buSzPct val="100000"/>
              <a:buChar char="•"/>
            </a:pPr>
            <a:r>
              <a:rPr lang="en-US" sz="1150" dirty="0">
                <a:solidFill>
                  <a:srgbClr val="C9E6F5"/>
                </a:solidFill>
                <a:latin typeface="Calibri" pitchFamily="34" charset="0"/>
                <a:ea typeface="Calibri" pitchFamily="34" charset="-122"/>
                <a:cs typeface="Calibri" pitchFamily="34" charset="-120"/>
              </a:rPr>
              <a:t>Gate learns ED-branch preference when branches disagree</a:t>
            </a:r>
            <a:endParaRPr lang="en-US" sz="1150" dirty="0"/>
          </a:p>
        </p:txBody>
      </p:sp>
      <p:sp>
        <p:nvSpPr>
          <p:cNvPr id="8" name="Shape 6"/>
          <p:cNvSpPr/>
          <p:nvPr/>
        </p:nvSpPr>
        <p:spPr>
          <a:xfrm>
            <a:off x="5532120" y="914400"/>
            <a:ext cx="3200400" cy="3200400"/>
          </a:xfrm>
          <a:prstGeom prst="roundRect">
            <a:avLst>
              <a:gd name="adj" fmla="val 2286"/>
            </a:avLst>
          </a:prstGeom>
          <a:solidFill>
            <a:srgbClr val="0A2A5E"/>
          </a:solidFill>
          <a:ln w="12700">
            <a:solidFill>
              <a:srgbClr val="D1E8F5"/>
            </a:solidFill>
            <a:prstDash val="solid"/>
          </a:ln>
          <a:effectLst>
            <a:outerShdw sx="100000" sy="100000" kx="0" ky="0" algn="bl" rotWithShape="0" blurRad="101600" dist="25400" dir="2700000">
              <a:srgbClr val="000000">
                <a:alpha val="12000"/>
              </a:srgbClr>
            </a:outerShdw>
          </a:effectLst>
        </p:spPr>
      </p:sp>
      <p:sp>
        <p:nvSpPr>
          <p:cNvPr id="9" name="Text 7"/>
          <p:cNvSpPr/>
          <p:nvPr/>
        </p:nvSpPr>
        <p:spPr>
          <a:xfrm>
            <a:off x="5715000" y="1051560"/>
            <a:ext cx="2834640" cy="320040"/>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Future Directions</a:t>
            </a:r>
            <a:endParaRPr lang="en-US" sz="1300" dirty="0"/>
          </a:p>
        </p:txBody>
      </p:sp>
      <p:sp>
        <p:nvSpPr>
          <p:cNvPr id="10" name="Text 8"/>
          <p:cNvSpPr/>
          <p:nvPr/>
        </p:nvSpPr>
        <p:spPr>
          <a:xfrm>
            <a:off x="5715000" y="1426464"/>
            <a:ext cx="2834640" cy="2560320"/>
          </a:xfrm>
          <a:prstGeom prst="rect">
            <a:avLst/>
          </a:prstGeom>
          <a:noFill/>
          <a:ln/>
        </p:spPr>
        <p:txBody>
          <a:bodyPr wrap="square" rtlCol="0" anchor="t"/>
          <a:lstStyle/>
          <a:p>
            <a:pPr marL="342900" indent="-342900">
              <a:buSzPct val="100000"/>
              <a:buChar char="•"/>
            </a:pPr>
            <a:r>
              <a:rPr lang="en-US" sz="1150" dirty="0">
                <a:solidFill>
                  <a:srgbClr val="C9E6F5"/>
                </a:solidFill>
                <a:latin typeface="Calibri" pitchFamily="34" charset="0"/>
                <a:ea typeface="Calibri" pitchFamily="34" charset="-122"/>
                <a:cs typeface="Calibri" pitchFamily="34" charset="-120"/>
              </a:rPr>
              <a:t>Class-rebalanced gate loss (fix real/fake asymmetry)</a:t>
            </a:r>
            <a:endParaRPr lang="en-US" sz="1150" dirty="0"/>
          </a:p>
          <a:p>
            <a:pPr marL="342900" indent="-342900">
              <a:buSzPct val="100000"/>
              <a:buChar char="•"/>
            </a:pPr>
            <a:r>
              <a:rPr lang="en-US" sz="1150" dirty="0">
                <a:solidFill>
                  <a:srgbClr val="C9E6F5"/>
                </a:solidFill>
                <a:latin typeface="Calibri" pitchFamily="34" charset="0"/>
                <a:ea typeface="Calibri" pitchFamily="34" charset="-122"/>
                <a:cs typeface="Calibri" pitchFamily="34" charset="-120"/>
              </a:rPr>
              <a:t>Joint end-to-end fine-tuning + entropy regularization</a:t>
            </a:r>
            <a:endParaRPr lang="en-US" sz="1150" dirty="0"/>
          </a:p>
          <a:p>
            <a:pPr marL="342900" indent="-342900">
              <a:buSzPct val="100000"/>
              <a:buChar char="•"/>
            </a:pPr>
            <a:r>
              <a:rPr lang="en-US" sz="1150" dirty="0">
                <a:solidFill>
                  <a:srgbClr val="C9E6F5"/>
                </a:solidFill>
                <a:latin typeface="Calibri" pitchFamily="34" charset="0"/>
                <a:ea typeface="Calibri" pitchFamily="34" charset="-122"/>
                <a:cs typeface="Calibri" pitchFamily="34" charset="-120"/>
              </a:rPr>
              <a:t>Extend to 5-class manipulation-type identification</a:t>
            </a:r>
            <a:endParaRPr lang="en-US" sz="1150" dirty="0"/>
          </a:p>
          <a:p>
            <a:pPr marL="342900" indent="-342900">
              <a:buSzPct val="100000"/>
              <a:buChar char="•"/>
            </a:pPr>
            <a:r>
              <a:rPr lang="en-US" sz="1150" dirty="0">
                <a:solidFill>
                  <a:srgbClr val="C9E6F5"/>
                </a:solidFill>
                <a:latin typeface="Calibri" pitchFamily="34" charset="0"/>
                <a:ea typeface="Calibri" pitchFamily="34" charset="-122"/>
                <a:cs typeface="Calibri" pitchFamily="34" charset="-120"/>
              </a:rPr>
              <a:t>Audio-visual deepfake settings</a:t>
            </a:r>
            <a:endParaRPr lang="en-US" sz="1150" dirty="0"/>
          </a:p>
        </p:txBody>
      </p:sp>
      <p:sp>
        <p:nvSpPr>
          <p:cNvPr id="11" name="Text 9"/>
          <p:cNvSpPr/>
          <p:nvPr/>
        </p:nvSpPr>
        <p:spPr>
          <a:xfrm>
            <a:off x="457200" y="4251960"/>
            <a:ext cx="8229600" cy="457200"/>
          </a:xfrm>
          <a:prstGeom prst="rect">
            <a:avLst/>
          </a:prstGeom>
          <a:noFill/>
          <a:ln/>
        </p:spPr>
        <p:txBody>
          <a:bodyPr wrap="square" rtlCol="0" anchor="ctr"/>
          <a:lstStyle/>
          <a:p>
            <a:pPr algn="ctr" indent="0" marL="0">
              <a:buNone/>
            </a:pPr>
            <a:r>
              <a:rPr lang="en-US" sz="1500" i="1" dirty="0">
                <a:solidFill>
                  <a:srgbClr val="8BBDD9"/>
                </a:solidFill>
                <a:latin typeface="Calibri" pitchFamily="34" charset="0"/>
                <a:ea typeface="Calibri" pitchFamily="34" charset="-122"/>
                <a:cs typeface="Calibri" pitchFamily="34" charset="-120"/>
              </a:rPr>
              <a:t>Thank you  ·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AGDF-GenConViT: Adaptive Gated Decision Fusion for Deepfake Detection</dc:title>
  <dc:subject>PptxGenJS Presentation</dc:subject>
  <dc:creator>PptxGenJS</dc:creator>
  <cp:lastModifiedBy>PptxGenJS</cp:lastModifiedBy>
  <cp:revision>1</cp:revision>
  <dcterms:created xsi:type="dcterms:W3CDTF">2026-06-16T07:53:20Z</dcterms:created>
  <dcterms:modified xsi:type="dcterms:W3CDTF">2026-06-16T07:53:20Z</dcterms:modified>
</cp:coreProperties>
</file>